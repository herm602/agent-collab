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D4A017"/>
          </a:solidFill>
          <a:ln w="12700">
            <a:solidFill>
              <a:srgbClr val="D4A017"/>
            </a:solidFill>
            <a:prstDash val="solid"/>
          </a:ln>
        </p:spPr>
      </p:sp>
      <p:sp>
        <p:nvSpPr>
          <p:cNvPr id="3" name="Text 1"/>
          <p:cNvSpPr/>
          <p:nvPr/>
        </p:nvSpPr>
        <p:spPr>
          <a:xfrm>
            <a:off x="457200" y="1097280"/>
            <a:ext cx="11247120" cy="457200"/>
          </a:xfrm>
          <a:prstGeom prst="rect">
            <a:avLst/>
          </a:prstGeom>
          <a:noFill/>
          <a:ln/>
        </p:spPr>
        <p:txBody>
          <a:bodyPr wrap="square" lIns="0" tIns="0" rIns="0" bIns="0" rtlCol="0" anchor="ctr"/>
          <a:lstStyle/>
          <a:p>
            <a:pPr indent="0" marL="0">
              <a:buNone/>
            </a:pPr>
            <a:r>
              <a:rPr lang="en-US" sz="1400" b="1" spc="500" kern="0" dirty="0">
                <a:solidFill>
                  <a:srgbClr val="D4A017"/>
                </a:solidFill>
                <a:latin typeface="Arial" pitchFamily="34" charset="0"/>
                <a:ea typeface="Arial" pitchFamily="34" charset="-122"/>
                <a:cs typeface="Arial" pitchFamily="34" charset="-120"/>
              </a:rPr>
              <a:t>IDEA #29</a:t>
            </a:r>
            <a:endParaRPr lang="en-US" sz="1400" dirty="0"/>
          </a:p>
        </p:txBody>
      </p:sp>
      <p:sp>
        <p:nvSpPr>
          <p:cNvPr id="4" name="Text 2"/>
          <p:cNvSpPr/>
          <p:nvPr/>
        </p:nvSpPr>
        <p:spPr>
          <a:xfrm>
            <a:off x="457200" y="1645920"/>
            <a:ext cx="11247120" cy="201168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AI Micro-Monopoly Builder</a:t>
            </a:r>
            <a:endParaRPr lang="en-US" sz="4400" dirty="0"/>
          </a:p>
        </p:txBody>
      </p:sp>
      <p:sp>
        <p:nvSpPr>
          <p:cNvPr id="5" name="Shape 3"/>
          <p:cNvSpPr/>
          <p:nvPr/>
        </p:nvSpPr>
        <p:spPr>
          <a:xfrm>
            <a:off x="457200" y="3749040"/>
            <a:ext cx="3657600" cy="45720"/>
          </a:xfrm>
          <a:prstGeom prst="rect">
            <a:avLst/>
          </a:prstGeom>
          <a:solidFill>
            <a:srgbClr val="D4A017"/>
          </a:solidFill>
          <a:ln w="12700">
            <a:solidFill>
              <a:srgbClr val="D4A017"/>
            </a:solidFill>
            <a:prstDash val="solid"/>
          </a:ln>
        </p:spPr>
      </p:sp>
      <p:sp>
        <p:nvSpPr>
          <p:cNvPr id="6" name="Text 4"/>
          <p:cNvSpPr/>
          <p:nvPr/>
        </p:nvSpPr>
        <p:spPr>
          <a:xfrm>
            <a:off x="457200" y="3931920"/>
            <a:ext cx="11247120" cy="640080"/>
          </a:xfrm>
          <a:prstGeom prst="rect">
            <a:avLst/>
          </a:prstGeom>
          <a:noFill/>
          <a:ln/>
        </p:spPr>
        <p:txBody>
          <a:bodyPr wrap="square" lIns="0" tIns="0" rIns="0" bIns="0" rtlCol="0" anchor="ctr"/>
          <a:lstStyle/>
          <a:p>
            <a:pPr indent="0" marL="0">
              <a:buNone/>
            </a:pPr>
            <a:r>
              <a:rPr lang="en-US" sz="1800" i="1" dirty="0">
                <a:solidFill>
                  <a:srgbClr val="BBCCDD"/>
                </a:solidFill>
                <a:latin typeface="Arial" pitchFamily="34" charset="0"/>
                <a:ea typeface="Arial" pitchFamily="34" charset="-122"/>
                <a:cs typeface="Arial" pitchFamily="34" charset="-120"/>
              </a:rPr>
              <a:t>Own 30 tiny SA software monopolies — each generating R10,000–R50,000/month</a:t>
            </a:r>
            <a:endParaRPr lang="en-US" sz="1800" dirty="0"/>
          </a:p>
        </p:txBody>
      </p:sp>
      <p:sp>
        <p:nvSpPr>
          <p:cNvPr id="7" name="Text 5"/>
          <p:cNvSpPr/>
          <p:nvPr/>
        </p:nvSpPr>
        <p:spPr>
          <a:xfrm>
            <a:off x="457200" y="4754880"/>
            <a:ext cx="4572000" cy="365760"/>
          </a:xfrm>
          <a:prstGeom prst="rect">
            <a:avLst/>
          </a:prstGeom>
          <a:noFill/>
          <a:ln/>
        </p:spPr>
        <p:txBody>
          <a:bodyPr wrap="square" lIns="0" tIns="0" rIns="0" bIns="0" rtlCol="0" anchor="ctr"/>
          <a:lstStyle/>
          <a:p>
            <a:pPr indent="0" marL="0">
              <a:buNone/>
            </a:pPr>
            <a:r>
              <a:rPr lang="en-US" sz="1200" dirty="0">
                <a:solidFill>
                  <a:srgbClr val="D4A017"/>
                </a:solidFill>
                <a:latin typeface="Arial" pitchFamily="34" charset="0"/>
                <a:ea typeface="Arial" pitchFamily="34" charset="-122"/>
                <a:cs typeface="Arial" pitchFamily="34" charset="-120"/>
              </a:rPr>
              <a:t>PHASE 3 — FUTURE PLAYS (2-5+ years)</a:t>
            </a:r>
            <a:endParaRPr lang="en-US" sz="1200" dirty="0"/>
          </a:p>
        </p:txBody>
      </p:sp>
      <p:sp>
        <p:nvSpPr>
          <p:cNvPr id="8" name="Text 6"/>
          <p:cNvSpPr/>
          <p:nvPr/>
        </p:nvSpPr>
        <p:spPr>
          <a:xfrm>
            <a:off x="457200" y="6217920"/>
            <a:ext cx="11247120" cy="365760"/>
          </a:xfrm>
          <a:prstGeom prst="rect">
            <a:avLst/>
          </a:prstGeom>
          <a:noFill/>
          <a:ln/>
        </p:spPr>
        <p:txBody>
          <a:bodyPr wrap="square" lIns="0" tIns="0" rIns="0" bIns="0" rtlCol="0" anchor="ctr"/>
          <a:lstStyle/>
          <a:p>
            <a:pPr indent="0" marL="0">
              <a:buNone/>
            </a:pPr>
            <a:r>
              <a:rPr lang="en-US" sz="1000" spc="200" kern="0" dirty="0">
                <a:solidFill>
                  <a:srgbClr val="8090A0"/>
                </a:solidFill>
                <a:latin typeface="Arial" pitchFamily="34" charset="0"/>
                <a:ea typeface="Arial" pitchFamily="34" charset="-122"/>
                <a:cs typeface="Arial" pitchFamily="34" charset="-120"/>
              </a:rPr>
              <a:t>HERMIE IHMIG  |  LEVINN GROUP  |  JOHANNESBURG, SA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457200" y="365760"/>
            <a:ext cx="10972800" cy="548640"/>
          </a:xfrm>
          <a:prstGeom prst="rect">
            <a:avLst/>
          </a:prstGeom>
          <a:noFill/>
          <a:ln/>
        </p:spPr>
        <p:txBody>
          <a:bodyPr wrap="square" lIns="0" tIns="0" rIns="0" bIns="0" rtlCol="0" anchor="ctr"/>
          <a:lstStyle/>
          <a:p>
            <a:pPr indent="0" marL="0">
              <a:buNone/>
            </a:pPr>
            <a:r>
              <a:rPr lang="en-US" sz="1200" b="1" spc="400" kern="0" dirty="0">
                <a:solidFill>
                  <a:srgbClr val="D4A017"/>
                </a:solidFill>
                <a:latin typeface="Arial" pitchFamily="34" charset="0"/>
                <a:ea typeface="Arial" pitchFamily="34" charset="-122"/>
                <a:cs typeface="Arial" pitchFamily="34" charset="-120"/>
              </a:rPr>
              <a:t>THE PROBLEM</a:t>
            </a:r>
            <a:endParaRPr lang="en-US" sz="1200" dirty="0"/>
          </a:p>
        </p:txBody>
      </p:sp>
      <p:sp>
        <p:nvSpPr>
          <p:cNvPr id="3" name="Text 1"/>
          <p:cNvSpPr/>
          <p:nvPr/>
        </p:nvSpPr>
        <p:spPr>
          <a:xfrm>
            <a:off x="457200" y="1005840"/>
            <a:ext cx="10972800" cy="109728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Most SA niches have 10,000+ businesses and zero software built for them</a:t>
            </a:r>
            <a:endParaRPr lang="en-US" sz="3200" dirty="0"/>
          </a:p>
        </p:txBody>
      </p:sp>
      <p:sp>
        <p:nvSpPr>
          <p:cNvPr id="4" name="Shape 2"/>
          <p:cNvSpPr/>
          <p:nvPr/>
        </p:nvSpPr>
        <p:spPr>
          <a:xfrm>
            <a:off x="457200" y="2194560"/>
            <a:ext cx="8229600" cy="36576"/>
          </a:xfrm>
          <a:prstGeom prst="rect">
            <a:avLst/>
          </a:prstGeom>
          <a:solidFill>
            <a:srgbClr val="D4A017"/>
          </a:solidFill>
          <a:ln w="12700">
            <a:solidFill>
              <a:srgbClr val="D4A017"/>
            </a:solidFill>
            <a:prstDash val="solid"/>
          </a:ln>
        </p:spPr>
      </p:sp>
      <p:sp>
        <p:nvSpPr>
          <p:cNvPr id="5" name="Shape 3"/>
          <p:cNvSpPr/>
          <p:nvPr/>
        </p:nvSpPr>
        <p:spPr>
          <a:xfrm>
            <a:off x="457200" y="2468880"/>
            <a:ext cx="2651760" cy="1645920"/>
          </a:xfrm>
          <a:prstGeom prst="rect">
            <a:avLst>
              <a:gd name="adj" fmla="val 4444"/>
            </a:avLst>
          </a:prstGeom>
          <a:solidFill>
            <a:srgbClr val="1A56A0"/>
          </a:solidFill>
          <a:ln w="12700">
            <a:solidFill>
              <a:srgbClr val="1A56A0"/>
            </a:solidFill>
            <a:prstDash val="solid"/>
          </a:ln>
        </p:spPr>
      </p:sp>
      <p:sp>
        <p:nvSpPr>
          <p:cNvPr id="6" name="Text 4"/>
          <p:cNvSpPr/>
          <p:nvPr/>
        </p:nvSpPr>
        <p:spPr>
          <a:xfrm>
            <a:off x="457200" y="2578608"/>
            <a:ext cx="2651760" cy="905256"/>
          </a:xfrm>
          <a:prstGeom prst="rect">
            <a:avLst/>
          </a:prstGeom>
          <a:noFill/>
          <a:ln/>
        </p:spPr>
        <p:txBody>
          <a:bodyPr wrap="square" lIns="0" tIns="0" rIns="0" bIns="0" rtlCol="0" anchor="b"/>
          <a:lstStyle/>
          <a:p>
            <a:pPr algn="ctr" indent="0" marL="0">
              <a:buNone/>
            </a:pPr>
            <a:r>
              <a:rPr lang="en-US" sz="2800" b="1" dirty="0">
                <a:solidFill>
                  <a:srgbClr val="FFFFFF"/>
                </a:solidFill>
                <a:latin typeface="Arial" pitchFamily="34" charset="0"/>
                <a:ea typeface="Arial" pitchFamily="34" charset="-122"/>
                <a:cs typeface="Arial" pitchFamily="34" charset="-120"/>
              </a:rPr>
              <a:t>40,000+</a:t>
            </a:r>
            <a:endParaRPr lang="en-US" sz="2800" dirty="0"/>
          </a:p>
        </p:txBody>
      </p:sp>
      <p:sp>
        <p:nvSpPr>
          <p:cNvPr id="7" name="Text 5"/>
          <p:cNvSpPr/>
          <p:nvPr/>
        </p:nvSpPr>
        <p:spPr>
          <a:xfrm>
            <a:off x="457200" y="3423514"/>
            <a:ext cx="2651760" cy="625450"/>
          </a:xfrm>
          <a:prstGeom prst="rect">
            <a:avLst/>
          </a:prstGeom>
          <a:noFill/>
          <a:ln/>
        </p:spPr>
        <p:txBody>
          <a:bodyPr wrap="square" lIns="0" tIns="0" rIns="0" bIns="0" rtlCol="0" anchor="t"/>
          <a:lstStyle/>
          <a:p>
            <a:pPr algn="ctr" indent="0" marL="0">
              <a:buNone/>
            </a:pPr>
            <a:r>
              <a:rPr lang="en-US" sz="1000" dirty="0">
                <a:solidFill>
                  <a:srgbClr val="CCDDEE"/>
                </a:solidFill>
                <a:latin typeface="Arial" pitchFamily="34" charset="0"/>
                <a:ea typeface="Arial" pitchFamily="34" charset="-122"/>
                <a:cs typeface="Arial" pitchFamily="34" charset="-120"/>
              </a:rPr>
              <a:t>SA churches — no dedicated admin software</a:t>
            </a:r>
            <a:endParaRPr lang="en-US" sz="1000" dirty="0"/>
          </a:p>
        </p:txBody>
      </p:sp>
      <p:sp>
        <p:nvSpPr>
          <p:cNvPr id="8" name="Shape 6"/>
          <p:cNvSpPr/>
          <p:nvPr/>
        </p:nvSpPr>
        <p:spPr>
          <a:xfrm>
            <a:off x="3383280" y="2468880"/>
            <a:ext cx="2651760" cy="1645920"/>
          </a:xfrm>
          <a:prstGeom prst="rect">
            <a:avLst>
              <a:gd name="adj" fmla="val 4444"/>
            </a:avLst>
          </a:prstGeom>
          <a:solidFill>
            <a:srgbClr val="1A56A0"/>
          </a:solidFill>
          <a:ln w="12700">
            <a:solidFill>
              <a:srgbClr val="1A56A0"/>
            </a:solidFill>
            <a:prstDash val="solid"/>
          </a:ln>
        </p:spPr>
      </p:sp>
      <p:sp>
        <p:nvSpPr>
          <p:cNvPr id="9" name="Text 7"/>
          <p:cNvSpPr/>
          <p:nvPr/>
        </p:nvSpPr>
        <p:spPr>
          <a:xfrm>
            <a:off x="3383280" y="2578608"/>
            <a:ext cx="2651760" cy="905256"/>
          </a:xfrm>
          <a:prstGeom prst="rect">
            <a:avLst/>
          </a:prstGeom>
          <a:noFill/>
          <a:ln/>
        </p:spPr>
        <p:txBody>
          <a:bodyPr wrap="square" lIns="0" tIns="0" rIns="0" bIns="0" rtlCol="0" anchor="b"/>
          <a:lstStyle/>
          <a:p>
            <a:pPr algn="ctr" indent="0" marL="0">
              <a:buNone/>
            </a:pPr>
            <a:r>
              <a:rPr lang="en-US" sz="2800" b="1" dirty="0">
                <a:solidFill>
                  <a:srgbClr val="FFFFFF"/>
                </a:solidFill>
                <a:latin typeface="Arial" pitchFamily="34" charset="0"/>
                <a:ea typeface="Arial" pitchFamily="34" charset="-122"/>
                <a:cs typeface="Arial" pitchFamily="34" charset="-120"/>
              </a:rPr>
              <a:t>200,000+</a:t>
            </a:r>
            <a:endParaRPr lang="en-US" sz="2800" dirty="0"/>
          </a:p>
        </p:txBody>
      </p:sp>
      <p:sp>
        <p:nvSpPr>
          <p:cNvPr id="10" name="Text 8"/>
          <p:cNvSpPr/>
          <p:nvPr/>
        </p:nvSpPr>
        <p:spPr>
          <a:xfrm>
            <a:off x="3383280" y="3423514"/>
            <a:ext cx="2651760" cy="625450"/>
          </a:xfrm>
          <a:prstGeom prst="rect">
            <a:avLst/>
          </a:prstGeom>
          <a:noFill/>
          <a:ln/>
        </p:spPr>
        <p:txBody>
          <a:bodyPr wrap="square" lIns="0" tIns="0" rIns="0" bIns="0" rtlCol="0" anchor="t"/>
          <a:lstStyle/>
          <a:p>
            <a:pPr algn="ctr" indent="0" marL="0">
              <a:buNone/>
            </a:pPr>
            <a:r>
              <a:rPr lang="en-US" sz="1000" dirty="0">
                <a:solidFill>
                  <a:srgbClr val="CCDDEE"/>
                </a:solidFill>
                <a:latin typeface="Arial" pitchFamily="34" charset="0"/>
                <a:ea typeface="Arial" pitchFamily="34" charset="-122"/>
                <a:cs typeface="Arial" pitchFamily="34" charset="-120"/>
              </a:rPr>
              <a:t>SA independent tutors — all managing via WhatsApp</a:t>
            </a:r>
            <a:endParaRPr lang="en-US" sz="1000" dirty="0"/>
          </a:p>
        </p:txBody>
      </p:sp>
      <p:sp>
        <p:nvSpPr>
          <p:cNvPr id="11" name="Shape 9"/>
          <p:cNvSpPr/>
          <p:nvPr/>
        </p:nvSpPr>
        <p:spPr>
          <a:xfrm>
            <a:off x="6309360" y="2468880"/>
            <a:ext cx="2651760" cy="1645920"/>
          </a:xfrm>
          <a:prstGeom prst="rect">
            <a:avLst>
              <a:gd name="adj" fmla="val 4444"/>
            </a:avLst>
          </a:prstGeom>
          <a:solidFill>
            <a:srgbClr val="1A56A0"/>
          </a:solidFill>
          <a:ln w="12700">
            <a:solidFill>
              <a:srgbClr val="1A56A0"/>
            </a:solidFill>
            <a:prstDash val="solid"/>
          </a:ln>
        </p:spPr>
      </p:sp>
      <p:sp>
        <p:nvSpPr>
          <p:cNvPr id="12" name="Text 10"/>
          <p:cNvSpPr/>
          <p:nvPr/>
        </p:nvSpPr>
        <p:spPr>
          <a:xfrm>
            <a:off x="6309360" y="2578608"/>
            <a:ext cx="2651760" cy="905256"/>
          </a:xfrm>
          <a:prstGeom prst="rect">
            <a:avLst/>
          </a:prstGeom>
          <a:noFill/>
          <a:ln/>
        </p:spPr>
        <p:txBody>
          <a:bodyPr wrap="square" lIns="0" tIns="0" rIns="0" bIns="0" rtlCol="0" anchor="b"/>
          <a:lstStyle/>
          <a:p>
            <a:pPr algn="ctr" indent="0" marL="0">
              <a:buNone/>
            </a:pPr>
            <a:r>
              <a:rPr lang="en-US" sz="2800" b="1" dirty="0">
                <a:solidFill>
                  <a:srgbClr val="FFFFFF"/>
                </a:solidFill>
                <a:latin typeface="Arial" pitchFamily="34" charset="0"/>
                <a:ea typeface="Arial" pitchFamily="34" charset="-122"/>
                <a:cs typeface="Arial" pitchFamily="34" charset="-120"/>
              </a:rPr>
              <a:t>100,000+</a:t>
            </a:r>
            <a:endParaRPr lang="en-US" sz="2800" dirty="0"/>
          </a:p>
        </p:txBody>
      </p:sp>
      <p:sp>
        <p:nvSpPr>
          <p:cNvPr id="13" name="Text 11"/>
          <p:cNvSpPr/>
          <p:nvPr/>
        </p:nvSpPr>
        <p:spPr>
          <a:xfrm>
            <a:off x="6309360" y="3423514"/>
            <a:ext cx="2651760" cy="625450"/>
          </a:xfrm>
          <a:prstGeom prst="rect">
            <a:avLst/>
          </a:prstGeom>
          <a:noFill/>
          <a:ln/>
        </p:spPr>
        <p:txBody>
          <a:bodyPr wrap="square" lIns="0" tIns="0" rIns="0" bIns="0" rtlCol="0" anchor="t"/>
          <a:lstStyle/>
          <a:p>
            <a:pPr algn="ctr" indent="0" marL="0">
              <a:buNone/>
            </a:pPr>
            <a:r>
              <a:rPr lang="en-US" sz="1000" dirty="0">
                <a:solidFill>
                  <a:srgbClr val="CCDDEE"/>
                </a:solidFill>
                <a:latin typeface="Arial" pitchFamily="34" charset="0"/>
                <a:ea typeface="Arial" pitchFamily="34" charset="-122"/>
                <a:cs typeface="Arial" pitchFamily="34" charset="-120"/>
              </a:rPr>
              <a:t>Spaza/tuck shops — no inventory management tool</a:t>
            </a:r>
            <a:endParaRPr lang="en-US" sz="1000" dirty="0"/>
          </a:p>
        </p:txBody>
      </p:sp>
      <p:sp>
        <p:nvSpPr>
          <p:cNvPr id="14" name="Shape 12"/>
          <p:cNvSpPr/>
          <p:nvPr/>
        </p:nvSpPr>
        <p:spPr>
          <a:xfrm>
            <a:off x="9235440" y="2468880"/>
            <a:ext cx="2651760" cy="1645920"/>
          </a:xfrm>
          <a:prstGeom prst="rect">
            <a:avLst>
              <a:gd name="adj" fmla="val 4444"/>
            </a:avLst>
          </a:prstGeom>
          <a:solidFill>
            <a:srgbClr val="1A56A0"/>
          </a:solidFill>
          <a:ln w="12700">
            <a:solidFill>
              <a:srgbClr val="1A56A0"/>
            </a:solidFill>
            <a:prstDash val="solid"/>
          </a:ln>
        </p:spPr>
      </p:sp>
      <p:sp>
        <p:nvSpPr>
          <p:cNvPr id="15" name="Text 13"/>
          <p:cNvSpPr/>
          <p:nvPr/>
        </p:nvSpPr>
        <p:spPr>
          <a:xfrm>
            <a:off x="9235440" y="2578608"/>
            <a:ext cx="2651760" cy="905256"/>
          </a:xfrm>
          <a:prstGeom prst="rect">
            <a:avLst/>
          </a:prstGeom>
          <a:noFill/>
          <a:ln/>
        </p:spPr>
        <p:txBody>
          <a:bodyPr wrap="square" lIns="0" tIns="0" rIns="0" bIns="0" rtlCol="0" anchor="b"/>
          <a:lstStyle/>
          <a:p>
            <a:pPr algn="ctr" indent="0" marL="0">
              <a:buNone/>
            </a:pPr>
            <a:r>
              <a:rPr lang="en-US" sz="2800" b="1" dirty="0">
                <a:solidFill>
                  <a:srgbClr val="FFFFFF"/>
                </a:solidFill>
                <a:latin typeface="Arial" pitchFamily="34" charset="0"/>
                <a:ea typeface="Arial" pitchFamily="34" charset="-122"/>
                <a:cs typeface="Arial" pitchFamily="34" charset="-120"/>
              </a:rPr>
              <a:t>800,000+</a:t>
            </a:r>
            <a:endParaRPr lang="en-US" sz="2800" dirty="0"/>
          </a:p>
        </p:txBody>
      </p:sp>
      <p:sp>
        <p:nvSpPr>
          <p:cNvPr id="16" name="Text 14"/>
          <p:cNvSpPr/>
          <p:nvPr/>
        </p:nvSpPr>
        <p:spPr>
          <a:xfrm>
            <a:off x="9235440" y="3423514"/>
            <a:ext cx="2651760" cy="625450"/>
          </a:xfrm>
          <a:prstGeom prst="rect">
            <a:avLst/>
          </a:prstGeom>
          <a:noFill/>
          <a:ln/>
        </p:spPr>
        <p:txBody>
          <a:bodyPr wrap="square" lIns="0" tIns="0" rIns="0" bIns="0" rtlCol="0" anchor="t"/>
          <a:lstStyle/>
          <a:p>
            <a:pPr algn="ctr" indent="0" marL="0">
              <a:buNone/>
            </a:pPr>
            <a:r>
              <a:rPr lang="en-US" sz="1000" dirty="0">
                <a:solidFill>
                  <a:srgbClr val="CCDDEE"/>
                </a:solidFill>
                <a:latin typeface="Arial" pitchFamily="34" charset="0"/>
                <a:ea typeface="Arial" pitchFamily="34" charset="-122"/>
                <a:cs typeface="Arial" pitchFamily="34" charset="-120"/>
              </a:rPr>
              <a:t>SA freelancers — SARS compliance is a nightmare</a:t>
            </a:r>
            <a:endParaRPr lang="en-US" sz="1000" dirty="0"/>
          </a:p>
        </p:txBody>
      </p:sp>
      <p:sp>
        <p:nvSpPr>
          <p:cNvPr id="17" name="Text 15"/>
          <p:cNvSpPr/>
          <p:nvPr/>
        </p:nvSpPr>
        <p:spPr>
          <a:xfrm>
            <a:off x="457200" y="4297680"/>
            <a:ext cx="10972800" cy="2011680"/>
          </a:xfrm>
          <a:prstGeom prst="rect">
            <a:avLst/>
          </a:prstGeom>
          <a:noFill/>
          <a:ln/>
        </p:spPr>
        <p:txBody>
          <a:bodyPr wrap="square" lIns="0" tIns="0" rIns="0" bIns="0" rtlCol="0" anchor="ctr"/>
          <a:lstStyle/>
          <a:p>
            <a:pPr indent="0" marL="0">
              <a:buNone/>
            </a:pPr>
            <a:r>
              <a:rPr lang="en-US" sz="1400" dirty="0">
                <a:solidFill>
                  <a:srgbClr val="BBCCDD"/>
                </a:solidFill>
                <a:latin typeface="Arial" pitchFamily="34" charset="0"/>
                <a:ea typeface="Arial" pitchFamily="34" charset="-122"/>
                <a:cs typeface="Arial" pitchFamily="34" charset="-120"/>
              </a:rPr>
              <a:t>Generic software serves no one perfectly. Niche software serves one group perfectly. With AI coding tools, you can build niche software in 4 weeks that serves 10,000+ customers better than any generic tool — and own it permanently.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182880"/>
            <a:ext cx="9144000" cy="411480"/>
          </a:xfrm>
          <a:prstGeom prst="rect">
            <a:avLst/>
          </a:prstGeom>
          <a:solidFill>
            <a:srgbClr val="1B2A4A"/>
          </a:solidFill>
          <a:ln w="12700">
            <a:solidFill>
              <a:srgbClr val="1B2A4A"/>
            </a:solidFill>
            <a:prstDash val="solid"/>
          </a:ln>
        </p:spPr>
      </p:sp>
      <p:sp>
        <p:nvSpPr>
          <p:cNvPr id="3" name="Text 1"/>
          <p:cNvSpPr/>
          <p:nvPr/>
        </p:nvSpPr>
        <p:spPr>
          <a:xfrm>
            <a:off x="274320" y="237744"/>
            <a:ext cx="8229600" cy="292608"/>
          </a:xfrm>
          <a:prstGeom prst="rect">
            <a:avLst/>
          </a:prstGeom>
          <a:noFill/>
          <a:ln/>
        </p:spPr>
        <p:txBody>
          <a:bodyPr wrap="square" lIns="0" tIns="0" rIns="0" bIns="0" rtlCol="0" anchor="ctr"/>
          <a:lstStyle/>
          <a:p>
            <a:pPr indent="0" marL="0">
              <a:buNone/>
            </a:pPr>
            <a:r>
              <a:rPr lang="en-US" sz="1100" b="1" spc="300" kern="0" dirty="0">
                <a:solidFill>
                  <a:srgbClr val="D4A017"/>
                </a:solidFill>
                <a:latin typeface="Arial" pitchFamily="34" charset="0"/>
                <a:ea typeface="Arial" pitchFamily="34" charset="-122"/>
                <a:cs typeface="Arial" pitchFamily="34" charset="-120"/>
              </a:rPr>
              <a:t>THE SOLUTION</a:t>
            </a:r>
            <a:endParaRPr lang="en-US" sz="1100" dirty="0"/>
          </a:p>
        </p:txBody>
      </p:sp>
      <p:sp>
        <p:nvSpPr>
          <p:cNvPr id="4" name="Text 2"/>
          <p:cNvSpPr/>
          <p:nvPr/>
        </p:nvSpPr>
        <p:spPr>
          <a:xfrm>
            <a:off x="457200" y="777240"/>
            <a:ext cx="10972800" cy="822960"/>
          </a:xfrm>
          <a:prstGeom prst="rect">
            <a:avLst/>
          </a:prstGeom>
          <a:noFill/>
          <a:ln/>
        </p:spPr>
        <p:txBody>
          <a:bodyPr wrap="square" lIns="0" tIns="0" rIns="0" bIns="0" rtlCol="0" anchor="ctr"/>
          <a:lstStyle/>
          <a:p>
            <a:pPr indent="0" marL="0">
              <a:buNone/>
            </a:pPr>
            <a:r>
              <a:rPr lang="en-US" sz="2800" b="1" dirty="0">
                <a:solidFill>
                  <a:srgbClr val="1B2A4A"/>
                </a:solidFill>
                <a:latin typeface="Arial" pitchFamily="34" charset="0"/>
                <a:ea typeface="Arial" pitchFamily="34" charset="-122"/>
                <a:cs typeface="Arial" pitchFamily="34" charset="-120"/>
              </a:rPr>
              <a:t>Build → Dominate → Automate → Repeat. 30 micro-monopolies. 1 portfolio.</a:t>
            </a:r>
            <a:endParaRPr lang="en-US" sz="2800" dirty="0"/>
          </a:p>
        </p:txBody>
      </p:sp>
      <p:sp>
        <p:nvSpPr>
          <p:cNvPr id="5" name="Shape 3"/>
          <p:cNvSpPr/>
          <p:nvPr/>
        </p:nvSpPr>
        <p:spPr>
          <a:xfrm>
            <a:off x="457200" y="1691640"/>
            <a:ext cx="8229600" cy="36576"/>
          </a:xfrm>
          <a:prstGeom prst="rect">
            <a:avLst/>
          </a:prstGeom>
          <a:solidFill>
            <a:srgbClr val="D4A017"/>
          </a:solidFill>
          <a:ln w="12700">
            <a:solidFill>
              <a:srgbClr val="D4A017"/>
            </a:solidFill>
            <a:prstDash val="solid"/>
          </a:ln>
        </p:spPr>
      </p:sp>
      <p:sp>
        <p:nvSpPr>
          <p:cNvPr id="6" name="Shape 4"/>
          <p:cNvSpPr/>
          <p:nvPr/>
        </p:nvSpPr>
        <p:spPr>
          <a:xfrm>
            <a:off x="457200" y="1984248"/>
            <a:ext cx="320040" cy="320040"/>
          </a:xfrm>
          <a:prstGeom prst="rect">
            <a:avLst>
              <a:gd name="adj" fmla="val 11429"/>
            </a:avLst>
          </a:prstGeom>
          <a:solidFill>
            <a:srgbClr val="D4A017"/>
          </a:solidFill>
          <a:ln w="12700">
            <a:solidFill>
              <a:srgbClr val="D4A017"/>
            </a:solidFill>
            <a:prstDash val="solid"/>
          </a:ln>
        </p:spPr>
      </p:sp>
      <p:sp>
        <p:nvSpPr>
          <p:cNvPr id="7" name="Text 5"/>
          <p:cNvSpPr/>
          <p:nvPr/>
        </p:nvSpPr>
        <p:spPr>
          <a:xfrm>
            <a:off x="457200" y="1984248"/>
            <a:ext cx="320040" cy="320040"/>
          </a:xfrm>
          <a:prstGeom prst="rect">
            <a:avLst/>
          </a:prstGeom>
          <a:noFill/>
          <a:ln/>
        </p:spPr>
        <p:txBody>
          <a:bodyPr wrap="square" lIns="0" tIns="0" rIns="0" bIns="0" rtlCol="0" anchor="ctr"/>
          <a:lstStyle/>
          <a:p>
            <a:pPr algn="ctr" indent="0" marL="0">
              <a:buNone/>
            </a:pPr>
            <a:r>
              <a:rPr lang="en-US" sz="1200" b="1" dirty="0">
                <a:solidFill>
                  <a:srgbClr val="1B2A4A"/>
                </a:solidFill>
                <a:latin typeface="Arial" pitchFamily="34" charset="0"/>
                <a:ea typeface="Arial" pitchFamily="34" charset="-122"/>
                <a:cs typeface="Arial" pitchFamily="34" charset="-120"/>
              </a:rPr>
              <a:t>1</a:t>
            </a:r>
            <a:endParaRPr lang="en-US" sz="1200" dirty="0"/>
          </a:p>
        </p:txBody>
      </p:sp>
      <p:sp>
        <p:nvSpPr>
          <p:cNvPr id="8" name="Text 6"/>
          <p:cNvSpPr/>
          <p:nvPr/>
        </p:nvSpPr>
        <p:spPr>
          <a:xfrm>
            <a:off x="1005840" y="1874520"/>
            <a:ext cx="10515600" cy="640080"/>
          </a:xfrm>
          <a:prstGeom prst="rect">
            <a:avLst/>
          </a:prstGeom>
          <a:noFill/>
          <a:ln/>
        </p:spPr>
        <p:txBody>
          <a:bodyPr wrap="square" lIns="0" tIns="0" rIns="0" bIns="0" rtlCol="0" anchor="ctr"/>
          <a:lstStyle/>
          <a:p>
            <a:pPr indent="0" marL="0">
              <a:buNone/>
            </a:pPr>
            <a:r>
              <a:rPr lang="en-US" sz="1500" dirty="0">
                <a:solidFill>
                  <a:srgbClr val="1B2A4A"/>
                </a:solidFill>
                <a:latin typeface="Arial" pitchFamily="34" charset="0"/>
                <a:ea typeface="Arial" pitchFamily="34" charset="-122"/>
                <a:cs typeface="Arial" pitchFamily="34" charset="-120"/>
              </a:rPr>
              <a:t>Lovable.dev + Supabase: build fully functional SaaS in 2–4 weeks with no coding degree</a:t>
            </a:r>
            <a:endParaRPr lang="en-US" sz="1500" dirty="0"/>
          </a:p>
        </p:txBody>
      </p:sp>
      <p:sp>
        <p:nvSpPr>
          <p:cNvPr id="9" name="Shape 7"/>
          <p:cNvSpPr/>
          <p:nvPr/>
        </p:nvSpPr>
        <p:spPr>
          <a:xfrm>
            <a:off x="457200" y="2761488"/>
            <a:ext cx="320040" cy="320040"/>
          </a:xfrm>
          <a:prstGeom prst="rect">
            <a:avLst>
              <a:gd name="adj" fmla="val 11429"/>
            </a:avLst>
          </a:prstGeom>
          <a:solidFill>
            <a:srgbClr val="D4A017"/>
          </a:solidFill>
          <a:ln w="12700">
            <a:solidFill>
              <a:srgbClr val="D4A017"/>
            </a:solidFill>
            <a:prstDash val="solid"/>
          </a:ln>
        </p:spPr>
      </p:sp>
      <p:sp>
        <p:nvSpPr>
          <p:cNvPr id="10" name="Text 8"/>
          <p:cNvSpPr/>
          <p:nvPr/>
        </p:nvSpPr>
        <p:spPr>
          <a:xfrm>
            <a:off x="457200" y="2761488"/>
            <a:ext cx="320040" cy="320040"/>
          </a:xfrm>
          <a:prstGeom prst="rect">
            <a:avLst/>
          </a:prstGeom>
          <a:noFill/>
          <a:ln/>
        </p:spPr>
        <p:txBody>
          <a:bodyPr wrap="square" lIns="0" tIns="0" rIns="0" bIns="0" rtlCol="0" anchor="ctr"/>
          <a:lstStyle/>
          <a:p>
            <a:pPr algn="ctr" indent="0" marL="0">
              <a:buNone/>
            </a:pPr>
            <a:r>
              <a:rPr lang="en-US" sz="1200" b="1" dirty="0">
                <a:solidFill>
                  <a:srgbClr val="1B2A4A"/>
                </a:solidFill>
                <a:latin typeface="Arial" pitchFamily="34" charset="0"/>
                <a:ea typeface="Arial" pitchFamily="34" charset="-122"/>
                <a:cs typeface="Arial" pitchFamily="34" charset="-120"/>
              </a:rPr>
              <a:t>2</a:t>
            </a:r>
            <a:endParaRPr lang="en-US" sz="1200" dirty="0"/>
          </a:p>
        </p:txBody>
      </p:sp>
      <p:sp>
        <p:nvSpPr>
          <p:cNvPr id="11" name="Text 9"/>
          <p:cNvSpPr/>
          <p:nvPr/>
        </p:nvSpPr>
        <p:spPr>
          <a:xfrm>
            <a:off x="1005840" y="2651760"/>
            <a:ext cx="10515600" cy="640080"/>
          </a:xfrm>
          <a:prstGeom prst="rect">
            <a:avLst/>
          </a:prstGeom>
          <a:noFill/>
          <a:ln/>
        </p:spPr>
        <p:txBody>
          <a:bodyPr wrap="square" lIns="0" tIns="0" rIns="0" bIns="0" rtlCol="0" anchor="ctr"/>
          <a:lstStyle/>
          <a:p>
            <a:pPr indent="0" marL="0">
              <a:buNone/>
            </a:pPr>
            <a:r>
              <a:rPr lang="en-US" sz="1500" dirty="0">
                <a:solidFill>
                  <a:srgbClr val="1B2A4A"/>
                </a:solidFill>
                <a:latin typeface="Arial" pitchFamily="34" charset="0"/>
                <a:ea typeface="Arial" pitchFamily="34" charset="-122"/>
                <a:cs typeface="Arial" pitchFamily="34" charset="-120"/>
              </a:rPr>
              <a:t>Niche research: find 1,000–10,000 SA businesses with no specific software, high recurring pain</a:t>
            </a:r>
            <a:endParaRPr lang="en-US" sz="1500" dirty="0"/>
          </a:p>
        </p:txBody>
      </p:sp>
      <p:sp>
        <p:nvSpPr>
          <p:cNvPr id="12" name="Shape 10"/>
          <p:cNvSpPr/>
          <p:nvPr/>
        </p:nvSpPr>
        <p:spPr>
          <a:xfrm>
            <a:off x="457200" y="3538728"/>
            <a:ext cx="320040" cy="320040"/>
          </a:xfrm>
          <a:prstGeom prst="rect">
            <a:avLst>
              <a:gd name="adj" fmla="val 11429"/>
            </a:avLst>
          </a:prstGeom>
          <a:solidFill>
            <a:srgbClr val="D4A017"/>
          </a:solidFill>
          <a:ln w="12700">
            <a:solidFill>
              <a:srgbClr val="D4A017"/>
            </a:solidFill>
            <a:prstDash val="solid"/>
          </a:ln>
        </p:spPr>
      </p:sp>
      <p:sp>
        <p:nvSpPr>
          <p:cNvPr id="13" name="Text 11"/>
          <p:cNvSpPr/>
          <p:nvPr/>
        </p:nvSpPr>
        <p:spPr>
          <a:xfrm>
            <a:off x="457200" y="3538728"/>
            <a:ext cx="320040" cy="320040"/>
          </a:xfrm>
          <a:prstGeom prst="rect">
            <a:avLst/>
          </a:prstGeom>
          <a:noFill/>
          <a:ln/>
        </p:spPr>
        <p:txBody>
          <a:bodyPr wrap="square" lIns="0" tIns="0" rIns="0" bIns="0" rtlCol="0" anchor="ctr"/>
          <a:lstStyle/>
          <a:p>
            <a:pPr algn="ctr" indent="0" marL="0">
              <a:buNone/>
            </a:pPr>
            <a:r>
              <a:rPr lang="en-US" sz="1200" b="1" dirty="0">
                <a:solidFill>
                  <a:srgbClr val="1B2A4A"/>
                </a:solidFill>
                <a:latin typeface="Arial" pitchFamily="34" charset="0"/>
                <a:ea typeface="Arial" pitchFamily="34" charset="-122"/>
                <a:cs typeface="Arial" pitchFamily="34" charset="-120"/>
              </a:rPr>
              <a:t>3</a:t>
            </a:r>
            <a:endParaRPr lang="en-US" sz="1200" dirty="0"/>
          </a:p>
        </p:txBody>
      </p:sp>
      <p:sp>
        <p:nvSpPr>
          <p:cNvPr id="14" name="Text 12"/>
          <p:cNvSpPr/>
          <p:nvPr/>
        </p:nvSpPr>
        <p:spPr>
          <a:xfrm>
            <a:off x="1005840" y="3429000"/>
            <a:ext cx="10515600" cy="640080"/>
          </a:xfrm>
          <a:prstGeom prst="rect">
            <a:avLst/>
          </a:prstGeom>
          <a:noFill/>
          <a:ln/>
        </p:spPr>
        <p:txBody>
          <a:bodyPr wrap="square" lIns="0" tIns="0" rIns="0" bIns="0" rtlCol="0" anchor="ctr"/>
          <a:lstStyle/>
          <a:p>
            <a:pPr indent="0" marL="0">
              <a:buNone/>
            </a:pPr>
            <a:r>
              <a:rPr lang="en-US" sz="1500" dirty="0">
                <a:solidFill>
                  <a:srgbClr val="1B2A4A"/>
                </a:solidFill>
                <a:latin typeface="Arial" pitchFamily="34" charset="0"/>
                <a:ea typeface="Arial" pitchFamily="34" charset="-122"/>
                <a:cs typeface="Arial" pitchFamily="34" charset="-120"/>
              </a:rPr>
              <a:t>Domination: first mover + SEO + community = the default tool for your niche</a:t>
            </a:r>
            <a:endParaRPr lang="en-US" sz="1500" dirty="0"/>
          </a:p>
        </p:txBody>
      </p:sp>
      <p:sp>
        <p:nvSpPr>
          <p:cNvPr id="15" name="Shape 13"/>
          <p:cNvSpPr/>
          <p:nvPr/>
        </p:nvSpPr>
        <p:spPr>
          <a:xfrm>
            <a:off x="457200" y="4315968"/>
            <a:ext cx="320040" cy="320040"/>
          </a:xfrm>
          <a:prstGeom prst="rect">
            <a:avLst>
              <a:gd name="adj" fmla="val 11429"/>
            </a:avLst>
          </a:prstGeom>
          <a:solidFill>
            <a:srgbClr val="D4A017"/>
          </a:solidFill>
          <a:ln w="12700">
            <a:solidFill>
              <a:srgbClr val="D4A017"/>
            </a:solidFill>
            <a:prstDash val="solid"/>
          </a:ln>
        </p:spPr>
      </p:sp>
      <p:sp>
        <p:nvSpPr>
          <p:cNvPr id="16" name="Text 14"/>
          <p:cNvSpPr/>
          <p:nvPr/>
        </p:nvSpPr>
        <p:spPr>
          <a:xfrm>
            <a:off x="457200" y="4315968"/>
            <a:ext cx="320040" cy="320040"/>
          </a:xfrm>
          <a:prstGeom prst="rect">
            <a:avLst/>
          </a:prstGeom>
          <a:noFill/>
          <a:ln/>
        </p:spPr>
        <p:txBody>
          <a:bodyPr wrap="square" lIns="0" tIns="0" rIns="0" bIns="0" rtlCol="0" anchor="ctr"/>
          <a:lstStyle/>
          <a:p>
            <a:pPr algn="ctr" indent="0" marL="0">
              <a:buNone/>
            </a:pPr>
            <a:r>
              <a:rPr lang="en-US" sz="1200" b="1" dirty="0">
                <a:solidFill>
                  <a:srgbClr val="1B2A4A"/>
                </a:solidFill>
                <a:latin typeface="Arial" pitchFamily="34" charset="0"/>
                <a:ea typeface="Arial" pitchFamily="34" charset="-122"/>
                <a:cs typeface="Arial" pitchFamily="34" charset="-120"/>
              </a:rPr>
              <a:t>4</a:t>
            </a:r>
            <a:endParaRPr lang="en-US" sz="1200" dirty="0"/>
          </a:p>
        </p:txBody>
      </p:sp>
      <p:sp>
        <p:nvSpPr>
          <p:cNvPr id="17" name="Text 15"/>
          <p:cNvSpPr/>
          <p:nvPr/>
        </p:nvSpPr>
        <p:spPr>
          <a:xfrm>
            <a:off x="1005840" y="4206240"/>
            <a:ext cx="10515600" cy="640080"/>
          </a:xfrm>
          <a:prstGeom prst="rect">
            <a:avLst/>
          </a:prstGeom>
          <a:noFill/>
          <a:ln/>
        </p:spPr>
        <p:txBody>
          <a:bodyPr wrap="square" lIns="0" tIns="0" rIns="0" bIns="0" rtlCol="0" anchor="ctr"/>
          <a:lstStyle/>
          <a:p>
            <a:pPr indent="0" marL="0">
              <a:buNone/>
            </a:pPr>
            <a:r>
              <a:rPr lang="en-US" sz="1500" dirty="0">
                <a:solidFill>
                  <a:srgbClr val="1B2A4A"/>
                </a:solidFill>
                <a:latin typeface="Arial" pitchFamily="34" charset="0"/>
                <a:ea typeface="Arial" pitchFamily="34" charset="-122"/>
                <a:cs typeface="Arial" pitchFamily="34" charset="-120"/>
              </a:rPr>
              <a:t>Automation: PayFast subscription billing + onboarding sequence = zero ongoing ops time</a:t>
            </a:r>
            <a:endParaRPr lang="en-US" sz="1500" dirty="0"/>
          </a:p>
        </p:txBody>
      </p:sp>
      <p:sp>
        <p:nvSpPr>
          <p:cNvPr id="18" name="Shape 16"/>
          <p:cNvSpPr/>
          <p:nvPr/>
        </p:nvSpPr>
        <p:spPr>
          <a:xfrm>
            <a:off x="457200" y="5093208"/>
            <a:ext cx="320040" cy="320040"/>
          </a:xfrm>
          <a:prstGeom prst="rect">
            <a:avLst>
              <a:gd name="adj" fmla="val 11429"/>
            </a:avLst>
          </a:prstGeom>
          <a:solidFill>
            <a:srgbClr val="D4A017"/>
          </a:solidFill>
          <a:ln w="12700">
            <a:solidFill>
              <a:srgbClr val="D4A017"/>
            </a:solidFill>
            <a:prstDash val="solid"/>
          </a:ln>
        </p:spPr>
      </p:sp>
      <p:sp>
        <p:nvSpPr>
          <p:cNvPr id="19" name="Text 17"/>
          <p:cNvSpPr/>
          <p:nvPr/>
        </p:nvSpPr>
        <p:spPr>
          <a:xfrm>
            <a:off x="457200" y="5093208"/>
            <a:ext cx="320040" cy="320040"/>
          </a:xfrm>
          <a:prstGeom prst="rect">
            <a:avLst/>
          </a:prstGeom>
          <a:noFill/>
          <a:ln/>
        </p:spPr>
        <p:txBody>
          <a:bodyPr wrap="square" lIns="0" tIns="0" rIns="0" bIns="0" rtlCol="0" anchor="ctr"/>
          <a:lstStyle/>
          <a:p>
            <a:pPr algn="ctr" indent="0" marL="0">
              <a:buNone/>
            </a:pPr>
            <a:r>
              <a:rPr lang="en-US" sz="1200" b="1" dirty="0">
                <a:solidFill>
                  <a:srgbClr val="1B2A4A"/>
                </a:solidFill>
                <a:latin typeface="Arial" pitchFamily="34" charset="0"/>
                <a:ea typeface="Arial" pitchFamily="34" charset="-122"/>
                <a:cs typeface="Arial" pitchFamily="34" charset="-120"/>
              </a:rPr>
              <a:t>5</a:t>
            </a:r>
            <a:endParaRPr lang="en-US" sz="1200" dirty="0"/>
          </a:p>
        </p:txBody>
      </p:sp>
      <p:sp>
        <p:nvSpPr>
          <p:cNvPr id="20" name="Text 18"/>
          <p:cNvSpPr/>
          <p:nvPr/>
        </p:nvSpPr>
        <p:spPr>
          <a:xfrm>
            <a:off x="1005840" y="4983480"/>
            <a:ext cx="10515600" cy="640080"/>
          </a:xfrm>
          <a:prstGeom prst="rect">
            <a:avLst/>
          </a:prstGeom>
          <a:noFill/>
          <a:ln/>
        </p:spPr>
        <p:txBody>
          <a:bodyPr wrap="square" lIns="0" tIns="0" rIns="0" bIns="0" rtlCol="0" anchor="ctr"/>
          <a:lstStyle/>
          <a:p>
            <a:pPr indent="0" marL="0">
              <a:buNone/>
            </a:pPr>
            <a:r>
              <a:rPr lang="en-US" sz="1500" dirty="0">
                <a:solidFill>
                  <a:srgbClr val="1B2A4A"/>
                </a:solidFill>
                <a:latin typeface="Arial" pitchFamily="34" charset="0"/>
                <a:ea typeface="Arial" pitchFamily="34" charset="-122"/>
                <a:cs typeface="Arial" pitchFamily="34" charset="-120"/>
              </a:rPr>
              <a:t>Portfolio compounding: each monopoly is an asset that generates recurring revenue forever</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457200" y="365760"/>
            <a:ext cx="10972800" cy="457200"/>
          </a:xfrm>
          <a:prstGeom prst="rect">
            <a:avLst/>
          </a:prstGeom>
          <a:noFill/>
          <a:ln/>
        </p:spPr>
        <p:txBody>
          <a:bodyPr wrap="square" lIns="0" tIns="0" rIns="0" bIns="0" rtlCol="0" anchor="ctr"/>
          <a:lstStyle/>
          <a:p>
            <a:pPr indent="0" marL="0">
              <a:buNone/>
            </a:pPr>
            <a:r>
              <a:rPr lang="en-US" sz="1200" b="1" spc="300" kern="0" dirty="0">
                <a:solidFill>
                  <a:srgbClr val="D4A017"/>
                </a:solidFill>
                <a:latin typeface="Arial" pitchFamily="34" charset="0"/>
                <a:ea typeface="Arial" pitchFamily="34" charset="-122"/>
                <a:cs typeface="Arial" pitchFamily="34" charset="-120"/>
              </a:rPr>
              <a:t>MARKET OPPORTUNITY — SOUTH AFRICA</a:t>
            </a:r>
            <a:endParaRPr lang="en-US" sz="1200" dirty="0"/>
          </a:p>
        </p:txBody>
      </p:sp>
      <p:sp>
        <p:nvSpPr>
          <p:cNvPr id="3" name="Shape 1"/>
          <p:cNvSpPr/>
          <p:nvPr/>
        </p:nvSpPr>
        <p:spPr>
          <a:xfrm>
            <a:off x="457200" y="1005840"/>
            <a:ext cx="2651760" cy="1828800"/>
          </a:xfrm>
          <a:prstGeom prst="rect">
            <a:avLst>
              <a:gd name="adj" fmla="val 4000"/>
            </a:avLst>
          </a:prstGeom>
          <a:solidFill>
            <a:srgbClr val="1A56A0"/>
          </a:solidFill>
          <a:ln w="12700">
            <a:solidFill>
              <a:srgbClr val="1A56A0"/>
            </a:solidFill>
            <a:prstDash val="solid"/>
          </a:ln>
        </p:spPr>
      </p:sp>
      <p:sp>
        <p:nvSpPr>
          <p:cNvPr id="4" name="Text 2"/>
          <p:cNvSpPr/>
          <p:nvPr/>
        </p:nvSpPr>
        <p:spPr>
          <a:xfrm>
            <a:off x="457200" y="1115568"/>
            <a:ext cx="2651760" cy="1005840"/>
          </a:xfrm>
          <a:prstGeom prst="rect">
            <a:avLst/>
          </a:prstGeom>
          <a:noFill/>
          <a:ln/>
        </p:spPr>
        <p:txBody>
          <a:bodyPr wrap="square" lIns="0" tIns="0" rIns="0" bIns="0" rtlCol="0" anchor="b"/>
          <a:lstStyle/>
          <a:p>
            <a:pPr algn="ctr" indent="0" marL="0">
              <a:buNone/>
            </a:pPr>
            <a:r>
              <a:rPr lang="en-US" sz="2800" b="1" dirty="0">
                <a:solidFill>
                  <a:srgbClr val="FFFFFF"/>
                </a:solidFill>
                <a:latin typeface="Arial" pitchFamily="34" charset="0"/>
                <a:ea typeface="Arial" pitchFamily="34" charset="-122"/>
                <a:cs typeface="Arial" pitchFamily="34" charset="-120"/>
              </a:rPr>
              <a:t>30 niches</a:t>
            </a:r>
            <a:endParaRPr lang="en-US" sz="2800" dirty="0"/>
          </a:p>
        </p:txBody>
      </p:sp>
      <p:sp>
        <p:nvSpPr>
          <p:cNvPr id="5" name="Text 3"/>
          <p:cNvSpPr/>
          <p:nvPr/>
        </p:nvSpPr>
        <p:spPr>
          <a:xfrm>
            <a:off x="457200" y="2066544"/>
            <a:ext cx="2651760" cy="694944"/>
          </a:xfrm>
          <a:prstGeom prst="rect">
            <a:avLst/>
          </a:prstGeom>
          <a:noFill/>
          <a:ln/>
        </p:spPr>
        <p:txBody>
          <a:bodyPr wrap="square" lIns="0" tIns="0" rIns="0" bIns="0" rtlCol="0" anchor="t"/>
          <a:lstStyle/>
          <a:p>
            <a:pPr algn="ctr" indent="0" marL="0">
              <a:buNone/>
            </a:pPr>
            <a:r>
              <a:rPr lang="en-US" sz="1000" dirty="0">
                <a:solidFill>
                  <a:srgbClr val="CCDDEE"/>
                </a:solidFill>
                <a:latin typeface="Arial" pitchFamily="34" charset="0"/>
                <a:ea typeface="Arial" pitchFamily="34" charset="-122"/>
                <a:cs typeface="Arial" pitchFamily="34" charset="-120"/>
              </a:rPr>
              <a:t>× 200 users × R399/month = R2.4M MRR</a:t>
            </a:r>
            <a:endParaRPr lang="en-US" sz="1000" dirty="0"/>
          </a:p>
        </p:txBody>
      </p:sp>
      <p:sp>
        <p:nvSpPr>
          <p:cNvPr id="6" name="Shape 4"/>
          <p:cNvSpPr/>
          <p:nvPr/>
        </p:nvSpPr>
        <p:spPr>
          <a:xfrm>
            <a:off x="3383280" y="1005840"/>
            <a:ext cx="2651760" cy="1828800"/>
          </a:xfrm>
          <a:prstGeom prst="rect">
            <a:avLst>
              <a:gd name="adj" fmla="val 4000"/>
            </a:avLst>
          </a:prstGeom>
          <a:solidFill>
            <a:srgbClr val="2D9B6F"/>
          </a:solidFill>
          <a:ln w="12700">
            <a:solidFill>
              <a:srgbClr val="2D9B6F"/>
            </a:solidFill>
            <a:prstDash val="solid"/>
          </a:ln>
        </p:spPr>
      </p:sp>
      <p:sp>
        <p:nvSpPr>
          <p:cNvPr id="7" name="Text 5"/>
          <p:cNvSpPr/>
          <p:nvPr/>
        </p:nvSpPr>
        <p:spPr>
          <a:xfrm>
            <a:off x="3383280" y="1115568"/>
            <a:ext cx="2651760" cy="1005840"/>
          </a:xfrm>
          <a:prstGeom prst="rect">
            <a:avLst/>
          </a:prstGeom>
          <a:noFill/>
          <a:ln/>
        </p:spPr>
        <p:txBody>
          <a:bodyPr wrap="square" lIns="0" tIns="0" rIns="0" bIns="0" rtlCol="0" anchor="b"/>
          <a:lstStyle/>
          <a:p>
            <a:pPr algn="ctr" indent="0" marL="0">
              <a:buNone/>
            </a:pPr>
            <a:r>
              <a:rPr lang="en-US" sz="2800" b="1" dirty="0">
                <a:solidFill>
                  <a:srgbClr val="FFFFFF"/>
                </a:solidFill>
                <a:latin typeface="Arial" pitchFamily="34" charset="0"/>
                <a:ea typeface="Arial" pitchFamily="34" charset="-122"/>
                <a:cs typeface="Arial" pitchFamily="34" charset="-120"/>
              </a:rPr>
              <a:t>R0</a:t>
            </a:r>
            <a:endParaRPr lang="en-US" sz="2800" dirty="0"/>
          </a:p>
        </p:txBody>
      </p:sp>
      <p:sp>
        <p:nvSpPr>
          <p:cNvPr id="8" name="Text 6"/>
          <p:cNvSpPr/>
          <p:nvPr/>
        </p:nvSpPr>
        <p:spPr>
          <a:xfrm>
            <a:off x="3383280" y="2066544"/>
            <a:ext cx="2651760" cy="694944"/>
          </a:xfrm>
          <a:prstGeom prst="rect">
            <a:avLst/>
          </a:prstGeom>
          <a:noFill/>
          <a:ln/>
        </p:spPr>
        <p:txBody>
          <a:bodyPr wrap="square" lIns="0" tIns="0" rIns="0" bIns="0" rtlCol="0" anchor="t"/>
          <a:lstStyle/>
          <a:p>
            <a:pPr algn="ctr" indent="0" marL="0">
              <a:buNone/>
            </a:pPr>
            <a:r>
              <a:rPr lang="en-US" sz="1000" dirty="0">
                <a:solidFill>
                  <a:srgbClr val="CCDDEE"/>
                </a:solidFill>
                <a:latin typeface="Arial" pitchFamily="34" charset="0"/>
                <a:ea typeface="Arial" pitchFamily="34" charset="-122"/>
                <a:cs typeface="Arial" pitchFamily="34" charset="-120"/>
              </a:rPr>
              <a:t>Marginal cost per additional user (SaaS model)</a:t>
            </a:r>
            <a:endParaRPr lang="en-US" sz="1000" dirty="0"/>
          </a:p>
        </p:txBody>
      </p:sp>
      <p:sp>
        <p:nvSpPr>
          <p:cNvPr id="9" name="Shape 7"/>
          <p:cNvSpPr/>
          <p:nvPr/>
        </p:nvSpPr>
        <p:spPr>
          <a:xfrm>
            <a:off x="6309360" y="1005840"/>
            <a:ext cx="2651760" cy="1828800"/>
          </a:xfrm>
          <a:prstGeom prst="rect">
            <a:avLst>
              <a:gd name="adj" fmla="val 4000"/>
            </a:avLst>
          </a:prstGeom>
          <a:solidFill>
            <a:srgbClr val="D4A017"/>
          </a:solidFill>
          <a:ln w="12700">
            <a:solidFill>
              <a:srgbClr val="D4A017"/>
            </a:solidFill>
            <a:prstDash val="solid"/>
          </a:ln>
        </p:spPr>
      </p:sp>
      <p:sp>
        <p:nvSpPr>
          <p:cNvPr id="10" name="Text 8"/>
          <p:cNvSpPr/>
          <p:nvPr/>
        </p:nvSpPr>
        <p:spPr>
          <a:xfrm>
            <a:off x="6309360" y="1115568"/>
            <a:ext cx="2651760" cy="1005840"/>
          </a:xfrm>
          <a:prstGeom prst="rect">
            <a:avLst/>
          </a:prstGeom>
          <a:noFill/>
          <a:ln/>
        </p:spPr>
        <p:txBody>
          <a:bodyPr wrap="square" lIns="0" tIns="0" rIns="0" bIns="0" rtlCol="0" anchor="b"/>
          <a:lstStyle/>
          <a:p>
            <a:pPr algn="ctr" indent="0" marL="0">
              <a:buNone/>
            </a:pPr>
            <a:r>
              <a:rPr lang="en-US" sz="2800" b="1" dirty="0">
                <a:solidFill>
                  <a:srgbClr val="FFFFFF"/>
                </a:solidFill>
                <a:latin typeface="Arial" pitchFamily="34" charset="0"/>
                <a:ea typeface="Arial" pitchFamily="34" charset="-122"/>
                <a:cs typeface="Arial" pitchFamily="34" charset="-120"/>
              </a:rPr>
              <a:t>4 weeks</a:t>
            </a:r>
            <a:endParaRPr lang="en-US" sz="2800" dirty="0"/>
          </a:p>
        </p:txBody>
      </p:sp>
      <p:sp>
        <p:nvSpPr>
          <p:cNvPr id="11" name="Text 9"/>
          <p:cNvSpPr/>
          <p:nvPr/>
        </p:nvSpPr>
        <p:spPr>
          <a:xfrm>
            <a:off x="6309360" y="2066544"/>
            <a:ext cx="2651760" cy="694944"/>
          </a:xfrm>
          <a:prstGeom prst="rect">
            <a:avLst/>
          </a:prstGeom>
          <a:noFill/>
          <a:ln/>
        </p:spPr>
        <p:txBody>
          <a:bodyPr wrap="square" lIns="0" tIns="0" rIns="0" bIns="0" rtlCol="0" anchor="t"/>
          <a:lstStyle/>
          <a:p>
            <a:pPr algn="ctr" indent="0" marL="0">
              <a:buNone/>
            </a:pPr>
            <a:r>
              <a:rPr lang="en-US" sz="1000" dirty="0">
                <a:solidFill>
                  <a:srgbClr val="CCDDEE"/>
                </a:solidFill>
                <a:latin typeface="Arial" pitchFamily="34" charset="0"/>
                <a:ea typeface="Arial" pitchFamily="34" charset="-122"/>
                <a:cs typeface="Arial" pitchFamily="34" charset="-120"/>
              </a:rPr>
              <a:t>Build time per micro-monopoly with AI coding tools</a:t>
            </a:r>
            <a:endParaRPr lang="en-US" sz="1000" dirty="0"/>
          </a:p>
        </p:txBody>
      </p:sp>
      <p:sp>
        <p:nvSpPr>
          <p:cNvPr id="12" name="Shape 10"/>
          <p:cNvSpPr/>
          <p:nvPr/>
        </p:nvSpPr>
        <p:spPr>
          <a:xfrm>
            <a:off x="9235440" y="1005840"/>
            <a:ext cx="2651760" cy="1828800"/>
          </a:xfrm>
          <a:prstGeom prst="rect">
            <a:avLst>
              <a:gd name="adj" fmla="val 4000"/>
            </a:avLst>
          </a:prstGeom>
          <a:solidFill>
            <a:srgbClr val="7C3AED"/>
          </a:solidFill>
          <a:ln w="12700">
            <a:solidFill>
              <a:srgbClr val="7C3AED"/>
            </a:solidFill>
            <a:prstDash val="solid"/>
          </a:ln>
        </p:spPr>
      </p:sp>
      <p:sp>
        <p:nvSpPr>
          <p:cNvPr id="13" name="Text 11"/>
          <p:cNvSpPr/>
          <p:nvPr/>
        </p:nvSpPr>
        <p:spPr>
          <a:xfrm>
            <a:off x="9235440" y="1115568"/>
            <a:ext cx="2651760" cy="1005840"/>
          </a:xfrm>
          <a:prstGeom prst="rect">
            <a:avLst/>
          </a:prstGeom>
          <a:noFill/>
          <a:ln/>
        </p:spPr>
        <p:txBody>
          <a:bodyPr wrap="square" lIns="0" tIns="0" rIns="0" bIns="0" rtlCol="0" anchor="b"/>
          <a:lstStyle/>
          <a:p>
            <a:pPr algn="ctr" indent="0" marL="0">
              <a:buNone/>
            </a:pPr>
            <a:r>
              <a:rPr lang="en-US" sz="2800" b="1" dirty="0">
                <a:solidFill>
                  <a:srgbClr val="FFFFFF"/>
                </a:solidFill>
                <a:latin typeface="Arial" pitchFamily="34" charset="0"/>
                <a:ea typeface="Arial" pitchFamily="34" charset="-122"/>
                <a:cs typeface="Arial" pitchFamily="34" charset="-120"/>
              </a:rPr>
              <a:t>Permanent</a:t>
            </a:r>
            <a:endParaRPr lang="en-US" sz="2800" dirty="0"/>
          </a:p>
        </p:txBody>
      </p:sp>
      <p:sp>
        <p:nvSpPr>
          <p:cNvPr id="14" name="Text 12"/>
          <p:cNvSpPr/>
          <p:nvPr/>
        </p:nvSpPr>
        <p:spPr>
          <a:xfrm>
            <a:off x="9235440" y="2066544"/>
            <a:ext cx="2651760" cy="694944"/>
          </a:xfrm>
          <a:prstGeom prst="rect">
            <a:avLst/>
          </a:prstGeom>
          <a:noFill/>
          <a:ln/>
        </p:spPr>
        <p:txBody>
          <a:bodyPr wrap="square" lIns="0" tIns="0" rIns="0" bIns="0" rtlCol="0" anchor="t"/>
          <a:lstStyle/>
          <a:p>
            <a:pPr algn="ctr" indent="0" marL="0">
              <a:buNone/>
            </a:pPr>
            <a:r>
              <a:rPr lang="en-US" sz="1000" dirty="0">
                <a:solidFill>
                  <a:srgbClr val="CCDDEE"/>
                </a:solidFill>
                <a:latin typeface="Arial" pitchFamily="34" charset="0"/>
                <a:ea typeface="Arial" pitchFamily="34" charset="-122"/>
                <a:cs typeface="Arial" pitchFamily="34" charset="-120"/>
              </a:rPr>
              <a:t>Asset value — grows every month without additional work</a:t>
            </a:r>
            <a:endParaRPr lang="en-US" sz="1000" dirty="0"/>
          </a:p>
        </p:txBody>
      </p:sp>
      <p:sp>
        <p:nvSpPr>
          <p:cNvPr id="15" name="Shape 13"/>
          <p:cNvSpPr/>
          <p:nvPr/>
        </p:nvSpPr>
        <p:spPr>
          <a:xfrm>
            <a:off x="457200" y="3108960"/>
            <a:ext cx="8229600" cy="36576"/>
          </a:xfrm>
          <a:prstGeom prst="rect">
            <a:avLst/>
          </a:prstGeom>
          <a:solidFill>
            <a:srgbClr val="D4A017"/>
          </a:solidFill>
          <a:ln w="12700">
            <a:solidFill>
              <a:srgbClr val="D4A017"/>
            </a:solidFill>
            <a:prstDash val="solid"/>
          </a:ln>
        </p:spPr>
      </p:sp>
      <p:sp>
        <p:nvSpPr>
          <p:cNvPr id="16" name="Text 14"/>
          <p:cNvSpPr/>
          <p:nvPr/>
        </p:nvSpPr>
        <p:spPr>
          <a:xfrm>
            <a:off x="457200" y="3291840"/>
            <a:ext cx="10972800" cy="2286000"/>
          </a:xfrm>
          <a:prstGeom prst="rect">
            <a:avLst/>
          </a:prstGeom>
          <a:noFill/>
          <a:ln/>
        </p:spPr>
        <p:txBody>
          <a:bodyPr wrap="square" lIns="0" tIns="0" rIns="0" bIns="0" rtlCol="0" anchor="ctr"/>
          <a:lstStyle/>
          <a:p>
            <a:pPr indent="0" marL="0">
              <a:buNone/>
            </a:pPr>
            <a:r>
              <a:rPr lang="en-US" sz="1400" dirty="0">
                <a:solidFill>
                  <a:srgbClr val="BBCCDD"/>
                </a:solidFill>
                <a:latin typeface="Arial" pitchFamily="34" charset="0"/>
                <a:ea typeface="Arial" pitchFamily="34" charset="-122"/>
                <a:cs typeface="Arial" pitchFamily="34" charset="-120"/>
              </a:rPr>
              <a:t>The Micro-SaaS movement is the defining opportunity of the 2025–2030 era. AI coding tools have eliminated the technical barrier. SA has hundreds of underserved niches. One builder with the right playbook can own 30+ of them.</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182880"/>
            <a:ext cx="9144000" cy="411480"/>
          </a:xfrm>
          <a:prstGeom prst="rect">
            <a:avLst/>
          </a:prstGeom>
          <a:solidFill>
            <a:srgbClr val="1B2A4A"/>
          </a:solidFill>
          <a:ln w="12700">
            <a:solidFill>
              <a:srgbClr val="1B2A4A"/>
            </a:solidFill>
            <a:prstDash val="solid"/>
          </a:ln>
        </p:spPr>
      </p:sp>
      <p:sp>
        <p:nvSpPr>
          <p:cNvPr id="3" name="Text 1"/>
          <p:cNvSpPr/>
          <p:nvPr/>
        </p:nvSpPr>
        <p:spPr>
          <a:xfrm>
            <a:off x="274320" y="237744"/>
            <a:ext cx="8229600" cy="292608"/>
          </a:xfrm>
          <a:prstGeom prst="rect">
            <a:avLst/>
          </a:prstGeom>
          <a:noFill/>
          <a:ln/>
        </p:spPr>
        <p:txBody>
          <a:bodyPr wrap="square" lIns="0" tIns="0" rIns="0" bIns="0" rtlCol="0" anchor="ctr"/>
          <a:lstStyle/>
          <a:p>
            <a:pPr indent="0" marL="0">
              <a:buNone/>
            </a:pPr>
            <a:r>
              <a:rPr lang="en-US" sz="1100" b="1" spc="300" kern="0" dirty="0">
                <a:solidFill>
                  <a:srgbClr val="D4A017"/>
                </a:solidFill>
                <a:latin typeface="Arial" pitchFamily="34" charset="0"/>
                <a:ea typeface="Arial" pitchFamily="34" charset="-122"/>
                <a:cs typeface="Arial" pitchFamily="34" charset="-120"/>
              </a:rPr>
              <a:t>BUSINESS MODEL &amp; REVENUE</a:t>
            </a:r>
            <a:endParaRPr lang="en-US" sz="1100" dirty="0"/>
          </a:p>
        </p:txBody>
      </p:sp>
      <p:sp>
        <p:nvSpPr>
          <p:cNvPr id="4" name="Text 2"/>
          <p:cNvSpPr/>
          <p:nvPr/>
        </p:nvSpPr>
        <p:spPr>
          <a:xfrm>
            <a:off x="457200" y="777240"/>
            <a:ext cx="10972800" cy="640080"/>
          </a:xfrm>
          <a:prstGeom prst="rect">
            <a:avLst/>
          </a:prstGeom>
          <a:noFill/>
          <a:ln/>
        </p:spPr>
        <p:txBody>
          <a:bodyPr wrap="square" lIns="0" tIns="0" rIns="0" bIns="0" rtlCol="0" anchor="ctr"/>
          <a:lstStyle/>
          <a:p>
            <a:pPr indent="0" marL="0">
              <a:buNone/>
            </a:pPr>
            <a:r>
              <a:rPr lang="en-US" sz="2600" b="1" dirty="0">
                <a:solidFill>
                  <a:srgbClr val="1B2A4A"/>
                </a:solidFill>
                <a:latin typeface="Arial" pitchFamily="34" charset="0"/>
                <a:ea typeface="Arial" pitchFamily="34" charset="-122"/>
                <a:cs typeface="Arial" pitchFamily="34" charset="-120"/>
              </a:rPr>
              <a:t>How We Make Money</a:t>
            </a:r>
            <a:endParaRPr lang="en-US" sz="2600" dirty="0"/>
          </a:p>
        </p:txBody>
      </p:sp>
      <p:sp>
        <p:nvSpPr>
          <p:cNvPr id="5" name="Shape 3"/>
          <p:cNvSpPr/>
          <p:nvPr/>
        </p:nvSpPr>
        <p:spPr>
          <a:xfrm>
            <a:off x="457200" y="1508760"/>
            <a:ext cx="8229600" cy="36576"/>
          </a:xfrm>
          <a:prstGeom prst="rect">
            <a:avLst/>
          </a:prstGeom>
          <a:solidFill>
            <a:srgbClr val="D4A017"/>
          </a:solidFill>
          <a:ln w="12700">
            <a:solidFill>
              <a:srgbClr val="D4A017"/>
            </a:solidFill>
            <a:prstDash val="solid"/>
          </a:ln>
        </p:spPr>
      </p:sp>
      <p:sp>
        <p:nvSpPr>
          <p:cNvPr id="6" name="Shape 4"/>
          <p:cNvSpPr/>
          <p:nvPr/>
        </p:nvSpPr>
        <p:spPr>
          <a:xfrm>
            <a:off x="457200" y="1737360"/>
            <a:ext cx="3474720" cy="3200400"/>
          </a:xfrm>
          <a:prstGeom prst="rect">
            <a:avLst>
              <a:gd name="adj" fmla="val 2857"/>
            </a:avLst>
          </a:prstGeom>
          <a:solidFill>
            <a:srgbClr val="E8EDF5"/>
          </a:solidFill>
          <a:ln w="12700">
            <a:solidFill>
              <a:srgbClr val="1B2A4A"/>
            </a:solidFill>
            <a:prstDash val="solid"/>
          </a:ln>
        </p:spPr>
      </p:sp>
      <p:sp>
        <p:nvSpPr>
          <p:cNvPr id="7" name="Text 5"/>
          <p:cNvSpPr/>
          <p:nvPr/>
        </p:nvSpPr>
        <p:spPr>
          <a:xfrm>
            <a:off x="457200" y="1828800"/>
            <a:ext cx="3474720" cy="457200"/>
          </a:xfrm>
          <a:prstGeom prst="rect">
            <a:avLst/>
          </a:prstGeom>
          <a:noFill/>
          <a:ln/>
        </p:spPr>
        <p:txBody>
          <a:bodyPr wrap="square" lIns="0" tIns="0" rIns="0" bIns="0" rtlCol="0" anchor="ctr"/>
          <a:lstStyle/>
          <a:p>
            <a:pPr algn="ctr" indent="0" marL="0">
              <a:buNone/>
            </a:pPr>
            <a:r>
              <a:rPr lang="en-US" sz="1300" b="1" dirty="0">
                <a:solidFill>
                  <a:srgbClr val="1B2A4A"/>
                </a:solidFill>
                <a:latin typeface="Arial" pitchFamily="34" charset="0"/>
                <a:ea typeface="Arial" pitchFamily="34" charset="-122"/>
                <a:cs typeface="Arial" pitchFamily="34" charset="-120"/>
              </a:rPr>
              <a:t>FREEMIUM</a:t>
            </a:r>
            <a:endParaRPr lang="en-US" sz="1300" dirty="0"/>
          </a:p>
        </p:txBody>
      </p:sp>
      <p:sp>
        <p:nvSpPr>
          <p:cNvPr id="8" name="Text 6"/>
          <p:cNvSpPr/>
          <p:nvPr/>
        </p:nvSpPr>
        <p:spPr>
          <a:xfrm>
            <a:off x="457200" y="2331720"/>
            <a:ext cx="3474720" cy="640080"/>
          </a:xfrm>
          <a:prstGeom prst="rect">
            <a:avLst/>
          </a:prstGeom>
          <a:noFill/>
          <a:ln/>
        </p:spPr>
        <p:txBody>
          <a:bodyPr wrap="square" lIns="0" tIns="0" rIns="0" bIns="0" rtlCol="0" anchor="ctr"/>
          <a:lstStyle/>
          <a:p>
            <a:pPr algn="ctr" indent="0" marL="0">
              <a:buNone/>
            </a:pPr>
            <a:r>
              <a:rPr lang="en-US" sz="2200" b="1" dirty="0">
                <a:solidFill>
                  <a:srgbClr val="1B2A4A"/>
                </a:solidFill>
                <a:latin typeface="Arial" pitchFamily="34" charset="0"/>
                <a:ea typeface="Arial" pitchFamily="34" charset="-122"/>
                <a:cs typeface="Arial" pitchFamily="34" charset="-120"/>
              </a:rPr>
              <a:t>Free → Paid</a:t>
            </a:r>
            <a:endParaRPr lang="en-US" sz="2200" dirty="0"/>
          </a:p>
        </p:txBody>
      </p:sp>
      <p:sp>
        <p:nvSpPr>
          <p:cNvPr id="9" name="Text 7"/>
          <p:cNvSpPr/>
          <p:nvPr/>
        </p:nvSpPr>
        <p:spPr>
          <a:xfrm>
            <a:off x="548640" y="3063240"/>
            <a:ext cx="3291840" cy="1737360"/>
          </a:xfrm>
          <a:prstGeom prst="rect">
            <a:avLst/>
          </a:prstGeom>
          <a:noFill/>
          <a:ln/>
        </p:spPr>
        <p:txBody>
          <a:bodyPr wrap="square" lIns="0" tIns="0" rIns="0" bIns="0" rtlCol="0" anchor="ctr"/>
          <a:lstStyle/>
          <a:p>
            <a:pPr algn="ctr" indent="0" marL="0">
              <a:buNone/>
            </a:pPr>
            <a:r>
              <a:rPr lang="en-US" sz="1100" dirty="0">
                <a:solidFill>
                  <a:srgbClr val="8090A0"/>
                </a:solidFill>
                <a:latin typeface="Arial" pitchFamily="34" charset="0"/>
                <a:ea typeface="Arial" pitchFamily="34" charset="-122"/>
                <a:cs typeface="Arial" pitchFamily="34" charset="-120"/>
              </a:rPr>
              <a:t>3 free docs/uses per month</a:t>
            </a:r>
            <a:endParaRPr lang="en-US" sz="1100" dirty="0"/>
          </a:p>
          <a:p>
            <a:pPr algn="ctr" indent="0" marL="0">
              <a:buNone/>
            </a:pPr>
            <a:r>
              <a:rPr lang="en-US" sz="1100" dirty="0">
                <a:solidFill>
                  <a:srgbClr val="8090A0"/>
                </a:solidFill>
                <a:latin typeface="Arial" pitchFamily="34" charset="0"/>
                <a:ea typeface="Arial" pitchFamily="34" charset="-122"/>
                <a:cs typeface="Arial" pitchFamily="34" charset="-120"/>
              </a:rPr>
              <a:t>Convert to R199–R799/month</a:t>
            </a:r>
            <a:endParaRPr lang="en-US" sz="1100" dirty="0"/>
          </a:p>
          <a:p>
            <a:pPr algn="ctr" indent="0" marL="0">
              <a:buNone/>
            </a:pPr>
            <a:r>
              <a:rPr lang="en-US" sz="1100" dirty="0">
                <a:solidFill>
                  <a:srgbClr val="8090A0"/>
                </a:solidFill>
                <a:latin typeface="Arial" pitchFamily="34" charset="0"/>
                <a:ea typeface="Arial" pitchFamily="34" charset="-122"/>
                <a:cs typeface="Arial" pitchFamily="34" charset="-120"/>
              </a:rPr>
              <a:t>Annual option: 2 months free</a:t>
            </a:r>
            <a:endParaRPr lang="en-US" sz="1100" dirty="0"/>
          </a:p>
          <a:p>
            <a:pPr algn="ctr" indent="0" marL="0">
              <a:buNone/>
            </a:pPr>
            <a:r>
              <a:rPr lang="en-US" sz="1100" dirty="0">
                <a:solidFill>
                  <a:srgbClr val="8090A0"/>
                </a:solidFill>
                <a:latin typeface="Arial" pitchFamily="34" charset="0"/>
                <a:ea typeface="Arial" pitchFamily="34" charset="-122"/>
                <a:cs typeface="Arial" pitchFamily="34" charset="-120"/>
              </a:rPr>
              <a:t>80%+ gross margin at scale</a:t>
            </a:r>
            <a:endParaRPr lang="en-US" sz="1100" dirty="0"/>
          </a:p>
        </p:txBody>
      </p:sp>
      <p:sp>
        <p:nvSpPr>
          <p:cNvPr id="10" name="Shape 8"/>
          <p:cNvSpPr/>
          <p:nvPr/>
        </p:nvSpPr>
        <p:spPr>
          <a:xfrm>
            <a:off x="4206240" y="1737360"/>
            <a:ext cx="3474720" cy="3200400"/>
          </a:xfrm>
          <a:prstGeom prst="rect">
            <a:avLst>
              <a:gd name="adj" fmla="val 2857"/>
            </a:avLst>
          </a:prstGeom>
          <a:solidFill>
            <a:srgbClr val="1B2A4A"/>
          </a:solidFill>
          <a:ln w="12700">
            <a:solidFill>
              <a:srgbClr val="1B2A4A"/>
            </a:solidFill>
            <a:prstDash val="solid"/>
          </a:ln>
        </p:spPr>
      </p:sp>
      <p:sp>
        <p:nvSpPr>
          <p:cNvPr id="11" name="Text 9"/>
          <p:cNvSpPr/>
          <p:nvPr/>
        </p:nvSpPr>
        <p:spPr>
          <a:xfrm>
            <a:off x="4206240" y="1828800"/>
            <a:ext cx="3474720" cy="457200"/>
          </a:xfrm>
          <a:prstGeom prst="rect">
            <a:avLst/>
          </a:prstGeom>
          <a:noFill/>
          <a:ln/>
        </p:spPr>
        <p:txBody>
          <a:bodyPr wrap="square" lIns="0" tIns="0" rIns="0" bIns="0" rtlCol="0" anchor="ctr"/>
          <a:lstStyle/>
          <a:p>
            <a:pPr algn="ctr" indent="0" marL="0">
              <a:buNone/>
            </a:pPr>
            <a:r>
              <a:rPr lang="en-US" sz="1300" b="1" dirty="0">
                <a:solidFill>
                  <a:srgbClr val="D4A017"/>
                </a:solidFill>
                <a:latin typeface="Arial" pitchFamily="34" charset="0"/>
                <a:ea typeface="Arial" pitchFamily="34" charset="-122"/>
                <a:cs typeface="Arial" pitchFamily="34" charset="-120"/>
              </a:rPr>
              <a:t>BUSINESS</a:t>
            </a:r>
            <a:endParaRPr lang="en-US" sz="1300" dirty="0"/>
          </a:p>
        </p:txBody>
      </p:sp>
      <p:sp>
        <p:nvSpPr>
          <p:cNvPr id="12" name="Text 10"/>
          <p:cNvSpPr/>
          <p:nvPr/>
        </p:nvSpPr>
        <p:spPr>
          <a:xfrm>
            <a:off x="4206240" y="2331720"/>
            <a:ext cx="347472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R399–R799/mo</a:t>
            </a:r>
            <a:endParaRPr lang="en-US" sz="2200" dirty="0"/>
          </a:p>
        </p:txBody>
      </p:sp>
      <p:sp>
        <p:nvSpPr>
          <p:cNvPr id="13" name="Text 11"/>
          <p:cNvSpPr/>
          <p:nvPr/>
        </p:nvSpPr>
        <p:spPr>
          <a:xfrm>
            <a:off x="4297680" y="3063240"/>
            <a:ext cx="3291840" cy="1737360"/>
          </a:xfrm>
          <a:prstGeom prst="rect">
            <a:avLst/>
          </a:prstGeom>
          <a:noFill/>
          <a:ln/>
        </p:spPr>
        <p:txBody>
          <a:bodyPr wrap="square" lIns="0" tIns="0" rIns="0" bIns="0" rtlCol="0" anchor="ctr"/>
          <a:lstStyle/>
          <a:p>
            <a:pPr algn="ctr" indent="0" marL="0">
              <a:buNone/>
            </a:pPr>
            <a:r>
              <a:rPr lang="en-US" sz="1100" dirty="0">
                <a:solidFill>
                  <a:srgbClr val="BBCCDD"/>
                </a:solidFill>
                <a:latin typeface="Arial" pitchFamily="34" charset="0"/>
                <a:ea typeface="Arial" pitchFamily="34" charset="-122"/>
                <a:cs typeface="Arial" pitchFamily="34" charset="-120"/>
              </a:rPr>
              <a:t>Core niche feature set</a:t>
            </a:r>
            <a:endParaRPr lang="en-US" sz="1100" dirty="0"/>
          </a:p>
          <a:p>
            <a:pPr algn="ctr" indent="0" marL="0">
              <a:buNone/>
            </a:pPr>
            <a:r>
              <a:rPr lang="en-US" sz="1100" dirty="0">
                <a:solidFill>
                  <a:srgbClr val="BBCCDD"/>
                </a:solidFill>
                <a:latin typeface="Arial" pitchFamily="34" charset="0"/>
                <a:ea typeface="Arial" pitchFamily="34" charset="-122"/>
                <a:cs typeface="Arial" pitchFamily="34" charset="-120"/>
              </a:rPr>
              <a:t>Unlimited usage</a:t>
            </a:r>
            <a:endParaRPr lang="en-US" sz="1100" dirty="0"/>
          </a:p>
          <a:p>
            <a:pPr algn="ctr" indent="0" marL="0">
              <a:buNone/>
            </a:pPr>
            <a:r>
              <a:rPr lang="en-US" sz="1100" dirty="0">
                <a:solidFill>
                  <a:srgbClr val="BBCCDD"/>
                </a:solidFill>
                <a:latin typeface="Arial" pitchFamily="34" charset="0"/>
                <a:ea typeface="Arial" pitchFamily="34" charset="-122"/>
                <a:cs typeface="Arial" pitchFamily="34" charset="-120"/>
              </a:rPr>
              <a:t>WhatsApp alerts</a:t>
            </a:r>
            <a:endParaRPr lang="en-US" sz="1100" dirty="0"/>
          </a:p>
          <a:p>
            <a:pPr algn="ctr" indent="0" marL="0">
              <a:buNone/>
            </a:pPr>
            <a:r>
              <a:rPr lang="en-US" sz="1100" dirty="0">
                <a:solidFill>
                  <a:srgbClr val="BBCCDD"/>
                </a:solidFill>
                <a:latin typeface="Arial" pitchFamily="34" charset="0"/>
                <a:ea typeface="Arial" pitchFamily="34" charset="-122"/>
                <a:cs typeface="Arial" pitchFamily="34" charset="-120"/>
              </a:rPr>
              <a:t>SARS-compliant outputs</a:t>
            </a:r>
            <a:endParaRPr lang="en-US" sz="1100" dirty="0"/>
          </a:p>
        </p:txBody>
      </p:sp>
      <p:sp>
        <p:nvSpPr>
          <p:cNvPr id="14" name="Shape 12"/>
          <p:cNvSpPr/>
          <p:nvPr/>
        </p:nvSpPr>
        <p:spPr>
          <a:xfrm>
            <a:off x="7955280" y="1737360"/>
            <a:ext cx="3474720" cy="3200400"/>
          </a:xfrm>
          <a:prstGeom prst="rect">
            <a:avLst>
              <a:gd name="adj" fmla="val 2857"/>
            </a:avLst>
          </a:prstGeom>
          <a:solidFill>
            <a:srgbClr val="E8EDF5"/>
          </a:solidFill>
          <a:ln w="12700">
            <a:solidFill>
              <a:srgbClr val="1B2A4A"/>
            </a:solidFill>
            <a:prstDash val="solid"/>
          </a:ln>
        </p:spPr>
      </p:sp>
      <p:sp>
        <p:nvSpPr>
          <p:cNvPr id="15" name="Text 13"/>
          <p:cNvSpPr/>
          <p:nvPr/>
        </p:nvSpPr>
        <p:spPr>
          <a:xfrm>
            <a:off x="7955280" y="1828800"/>
            <a:ext cx="3474720" cy="457200"/>
          </a:xfrm>
          <a:prstGeom prst="rect">
            <a:avLst/>
          </a:prstGeom>
          <a:noFill/>
          <a:ln/>
        </p:spPr>
        <p:txBody>
          <a:bodyPr wrap="square" lIns="0" tIns="0" rIns="0" bIns="0" rtlCol="0" anchor="ctr"/>
          <a:lstStyle/>
          <a:p>
            <a:pPr algn="ctr" indent="0" marL="0">
              <a:buNone/>
            </a:pPr>
            <a:r>
              <a:rPr lang="en-US" sz="1300" b="1" dirty="0">
                <a:solidFill>
                  <a:srgbClr val="1B2A4A"/>
                </a:solidFill>
                <a:latin typeface="Arial" pitchFamily="34" charset="0"/>
                <a:ea typeface="Arial" pitchFamily="34" charset="-122"/>
                <a:cs typeface="Arial" pitchFamily="34" charset="-120"/>
              </a:rPr>
              <a:t>PORTFOLIO</a:t>
            </a:r>
            <a:endParaRPr lang="en-US" sz="1300" dirty="0"/>
          </a:p>
        </p:txBody>
      </p:sp>
      <p:sp>
        <p:nvSpPr>
          <p:cNvPr id="16" name="Text 14"/>
          <p:cNvSpPr/>
          <p:nvPr/>
        </p:nvSpPr>
        <p:spPr>
          <a:xfrm>
            <a:off x="7955280" y="2331720"/>
            <a:ext cx="3474720" cy="640080"/>
          </a:xfrm>
          <a:prstGeom prst="rect">
            <a:avLst/>
          </a:prstGeom>
          <a:noFill/>
          <a:ln/>
        </p:spPr>
        <p:txBody>
          <a:bodyPr wrap="square" lIns="0" tIns="0" rIns="0" bIns="0" rtlCol="0" anchor="ctr"/>
          <a:lstStyle/>
          <a:p>
            <a:pPr algn="ctr" indent="0" marL="0">
              <a:buNone/>
            </a:pPr>
            <a:r>
              <a:rPr lang="en-US" sz="2200" b="1" dirty="0">
                <a:solidFill>
                  <a:srgbClr val="1B2A4A"/>
                </a:solidFill>
                <a:latin typeface="Arial" pitchFamily="34" charset="0"/>
                <a:ea typeface="Arial" pitchFamily="34" charset="-122"/>
                <a:cs typeface="Arial" pitchFamily="34" charset="-120"/>
              </a:rPr>
              <a:t>Multiple products</a:t>
            </a:r>
            <a:endParaRPr lang="en-US" sz="2200" dirty="0"/>
          </a:p>
        </p:txBody>
      </p:sp>
      <p:sp>
        <p:nvSpPr>
          <p:cNvPr id="17" name="Text 15"/>
          <p:cNvSpPr/>
          <p:nvPr/>
        </p:nvSpPr>
        <p:spPr>
          <a:xfrm>
            <a:off x="8046720" y="3063240"/>
            <a:ext cx="3291840" cy="1737360"/>
          </a:xfrm>
          <a:prstGeom prst="rect">
            <a:avLst/>
          </a:prstGeom>
          <a:noFill/>
          <a:ln/>
        </p:spPr>
        <p:txBody>
          <a:bodyPr wrap="square" lIns="0" tIns="0" rIns="0" bIns="0" rtlCol="0" anchor="ctr"/>
          <a:lstStyle/>
          <a:p>
            <a:pPr algn="ctr" indent="0" marL="0">
              <a:buNone/>
            </a:pPr>
            <a:r>
              <a:rPr lang="en-US" sz="1100" dirty="0">
                <a:solidFill>
                  <a:srgbClr val="8090A0"/>
                </a:solidFill>
                <a:latin typeface="Arial" pitchFamily="34" charset="0"/>
                <a:ea typeface="Arial" pitchFamily="34" charset="-122"/>
                <a:cs typeface="Arial" pitchFamily="34" charset="-120"/>
              </a:rPr>
              <a:t>30 products × 200 users = 6,000 customers</a:t>
            </a:r>
            <a:endParaRPr lang="en-US" sz="1100" dirty="0"/>
          </a:p>
          <a:p>
            <a:pPr algn="ctr" indent="0" marL="0">
              <a:buNone/>
            </a:pPr>
            <a:r>
              <a:rPr lang="en-US" sz="1100" dirty="0">
                <a:solidFill>
                  <a:srgbClr val="8090A0"/>
                </a:solidFill>
                <a:latin typeface="Arial" pitchFamily="34" charset="0"/>
                <a:ea typeface="Arial" pitchFamily="34" charset="-122"/>
                <a:cs typeface="Arial" pitchFamily="34" charset="-120"/>
              </a:rPr>
              <a:t>R2.4M MRR target</a:t>
            </a:r>
            <a:endParaRPr lang="en-US" sz="1100" dirty="0"/>
          </a:p>
          <a:p>
            <a:pPr algn="ctr" indent="0" marL="0">
              <a:buNone/>
            </a:pPr>
            <a:r>
              <a:rPr lang="en-US" sz="1100" dirty="0">
                <a:solidFill>
                  <a:srgbClr val="8090A0"/>
                </a:solidFill>
                <a:latin typeface="Arial" pitchFamily="34" charset="0"/>
                <a:ea typeface="Arial" pitchFamily="34" charset="-122"/>
                <a:cs typeface="Arial" pitchFamily="34" charset="-120"/>
              </a:rPr>
              <a:t>Fully automated revenue</a:t>
            </a:r>
            <a:endParaRPr lang="en-US" sz="1100" dirty="0"/>
          </a:p>
          <a:p>
            <a:pPr algn="ctr" indent="0" marL="0">
              <a:buNone/>
            </a:pPr>
            <a:r>
              <a:rPr lang="en-US" sz="1100" dirty="0">
                <a:solidFill>
                  <a:srgbClr val="8090A0"/>
                </a:solidFill>
                <a:latin typeface="Arial" pitchFamily="34" charset="0"/>
                <a:ea typeface="Arial" pitchFamily="34" charset="-122"/>
                <a:cs typeface="Arial" pitchFamily="34" charset="-120"/>
              </a:rPr>
              <a:t>Sale-ready asset portfolio</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457200" y="320040"/>
            <a:ext cx="10972800" cy="457200"/>
          </a:xfrm>
          <a:prstGeom prst="rect">
            <a:avLst/>
          </a:prstGeom>
          <a:noFill/>
          <a:ln/>
        </p:spPr>
        <p:txBody>
          <a:bodyPr wrap="square" lIns="0" tIns="0" rIns="0" bIns="0" rtlCol="0" anchor="ctr"/>
          <a:lstStyle/>
          <a:p>
            <a:pPr indent="0" marL="0">
              <a:buNone/>
            </a:pPr>
            <a:r>
              <a:rPr lang="en-US" sz="1200" b="1" spc="400" kern="0" dirty="0">
                <a:solidFill>
                  <a:srgbClr val="D4A017"/>
                </a:solidFill>
                <a:latin typeface="Arial" pitchFamily="34" charset="0"/>
                <a:ea typeface="Arial" pitchFamily="34" charset="-122"/>
                <a:cs typeface="Arial" pitchFamily="34" charset="-120"/>
              </a:rPr>
              <a:t>FINANCIAL PROJECTIONS</a:t>
            </a:r>
            <a:endParaRPr lang="en-US" sz="1200" dirty="0"/>
          </a:p>
        </p:txBody>
      </p:sp>
      <p:sp>
        <p:nvSpPr>
          <p:cNvPr id="3" name="Shape 1"/>
          <p:cNvSpPr/>
          <p:nvPr/>
        </p:nvSpPr>
        <p:spPr>
          <a:xfrm>
            <a:off x="457200" y="914400"/>
            <a:ext cx="2148840" cy="457200"/>
          </a:xfrm>
          <a:prstGeom prst="rect">
            <a:avLst/>
          </a:prstGeom>
          <a:solidFill>
            <a:srgbClr val="D4A017"/>
          </a:solidFill>
          <a:ln w="12700">
            <a:solidFill>
              <a:srgbClr val="D4A017"/>
            </a:solidFill>
            <a:prstDash val="solid"/>
          </a:ln>
        </p:spPr>
      </p:sp>
      <p:sp>
        <p:nvSpPr>
          <p:cNvPr id="4" name="Text 2"/>
          <p:cNvSpPr/>
          <p:nvPr/>
        </p:nvSpPr>
        <p:spPr>
          <a:xfrm>
            <a:off x="457200" y="914400"/>
            <a:ext cx="2148840" cy="457200"/>
          </a:xfrm>
          <a:prstGeom prst="rect">
            <a:avLst/>
          </a:prstGeom>
          <a:noFill/>
          <a:ln/>
        </p:spPr>
        <p:txBody>
          <a:bodyPr wrap="square" lIns="0" tIns="0" rIns="0" bIns="0" rtlCol="0" anchor="ctr"/>
          <a:lstStyle/>
          <a:p>
            <a:pPr algn="ctr" indent="0" marL="0">
              <a:buNone/>
            </a:pPr>
            <a:r>
              <a:rPr lang="en-US" sz="1200" b="1" dirty="0">
                <a:solidFill>
                  <a:srgbClr val="1B2A4A"/>
                </a:solidFill>
                <a:latin typeface="Arial" pitchFamily="34" charset="0"/>
                <a:ea typeface="Arial" pitchFamily="34" charset="-122"/>
                <a:cs typeface="Arial" pitchFamily="34" charset="-120"/>
              </a:rPr>
              <a:t>Metric</a:t>
            </a:r>
            <a:endParaRPr lang="en-US" sz="1200" dirty="0"/>
          </a:p>
        </p:txBody>
      </p:sp>
      <p:sp>
        <p:nvSpPr>
          <p:cNvPr id="5" name="Shape 3"/>
          <p:cNvSpPr/>
          <p:nvPr/>
        </p:nvSpPr>
        <p:spPr>
          <a:xfrm>
            <a:off x="2651760" y="914400"/>
            <a:ext cx="2148840" cy="457200"/>
          </a:xfrm>
          <a:prstGeom prst="rect">
            <a:avLst/>
          </a:prstGeom>
          <a:solidFill>
            <a:srgbClr val="D4A017"/>
          </a:solidFill>
          <a:ln w="12700">
            <a:solidFill>
              <a:srgbClr val="D4A017"/>
            </a:solidFill>
            <a:prstDash val="solid"/>
          </a:ln>
        </p:spPr>
      </p:sp>
      <p:sp>
        <p:nvSpPr>
          <p:cNvPr id="6" name="Text 4"/>
          <p:cNvSpPr/>
          <p:nvPr/>
        </p:nvSpPr>
        <p:spPr>
          <a:xfrm>
            <a:off x="2651760" y="914400"/>
            <a:ext cx="2148840" cy="457200"/>
          </a:xfrm>
          <a:prstGeom prst="rect">
            <a:avLst/>
          </a:prstGeom>
          <a:noFill/>
          <a:ln/>
        </p:spPr>
        <p:txBody>
          <a:bodyPr wrap="square" lIns="0" tIns="0" rIns="0" bIns="0" rtlCol="0" anchor="ctr"/>
          <a:lstStyle/>
          <a:p>
            <a:pPr algn="ctr" indent="0" marL="0">
              <a:buNone/>
            </a:pPr>
            <a:r>
              <a:rPr lang="en-US" sz="1200" b="1" dirty="0">
                <a:solidFill>
                  <a:srgbClr val="1B2A4A"/>
                </a:solidFill>
                <a:latin typeface="Arial" pitchFamily="34" charset="0"/>
                <a:ea typeface="Arial" pitchFamily="34" charset="-122"/>
                <a:cs typeface="Arial" pitchFamily="34" charset="-120"/>
              </a:rPr>
              <a:t>Month 3</a:t>
            </a:r>
            <a:endParaRPr lang="en-US" sz="1200" dirty="0"/>
          </a:p>
        </p:txBody>
      </p:sp>
      <p:sp>
        <p:nvSpPr>
          <p:cNvPr id="7" name="Shape 5"/>
          <p:cNvSpPr/>
          <p:nvPr/>
        </p:nvSpPr>
        <p:spPr>
          <a:xfrm>
            <a:off x="4846320" y="914400"/>
            <a:ext cx="2148840" cy="457200"/>
          </a:xfrm>
          <a:prstGeom prst="rect">
            <a:avLst/>
          </a:prstGeom>
          <a:solidFill>
            <a:srgbClr val="D4A017"/>
          </a:solidFill>
          <a:ln w="12700">
            <a:solidFill>
              <a:srgbClr val="D4A017"/>
            </a:solidFill>
            <a:prstDash val="solid"/>
          </a:ln>
        </p:spPr>
      </p:sp>
      <p:sp>
        <p:nvSpPr>
          <p:cNvPr id="8" name="Text 6"/>
          <p:cNvSpPr/>
          <p:nvPr/>
        </p:nvSpPr>
        <p:spPr>
          <a:xfrm>
            <a:off x="4846320" y="914400"/>
            <a:ext cx="2148840" cy="457200"/>
          </a:xfrm>
          <a:prstGeom prst="rect">
            <a:avLst/>
          </a:prstGeom>
          <a:noFill/>
          <a:ln/>
        </p:spPr>
        <p:txBody>
          <a:bodyPr wrap="square" lIns="0" tIns="0" rIns="0" bIns="0" rtlCol="0" anchor="ctr"/>
          <a:lstStyle/>
          <a:p>
            <a:pPr algn="ctr" indent="0" marL="0">
              <a:buNone/>
            </a:pPr>
            <a:r>
              <a:rPr lang="en-US" sz="1200" b="1" dirty="0">
                <a:solidFill>
                  <a:srgbClr val="1B2A4A"/>
                </a:solidFill>
                <a:latin typeface="Arial" pitchFamily="34" charset="0"/>
                <a:ea typeface="Arial" pitchFamily="34" charset="-122"/>
                <a:cs typeface="Arial" pitchFamily="34" charset="-120"/>
              </a:rPr>
              <a:t>Month 6</a:t>
            </a:r>
            <a:endParaRPr lang="en-US" sz="1200" dirty="0"/>
          </a:p>
        </p:txBody>
      </p:sp>
      <p:sp>
        <p:nvSpPr>
          <p:cNvPr id="9" name="Shape 7"/>
          <p:cNvSpPr/>
          <p:nvPr/>
        </p:nvSpPr>
        <p:spPr>
          <a:xfrm>
            <a:off x="7040880" y="914400"/>
            <a:ext cx="2148840" cy="457200"/>
          </a:xfrm>
          <a:prstGeom prst="rect">
            <a:avLst/>
          </a:prstGeom>
          <a:solidFill>
            <a:srgbClr val="D4A017"/>
          </a:solidFill>
          <a:ln w="12700">
            <a:solidFill>
              <a:srgbClr val="D4A017"/>
            </a:solidFill>
            <a:prstDash val="solid"/>
          </a:ln>
        </p:spPr>
      </p:sp>
      <p:sp>
        <p:nvSpPr>
          <p:cNvPr id="10" name="Text 8"/>
          <p:cNvSpPr/>
          <p:nvPr/>
        </p:nvSpPr>
        <p:spPr>
          <a:xfrm>
            <a:off x="7040880" y="914400"/>
            <a:ext cx="2148840" cy="457200"/>
          </a:xfrm>
          <a:prstGeom prst="rect">
            <a:avLst/>
          </a:prstGeom>
          <a:noFill/>
          <a:ln/>
        </p:spPr>
        <p:txBody>
          <a:bodyPr wrap="square" lIns="0" tIns="0" rIns="0" bIns="0" rtlCol="0" anchor="ctr"/>
          <a:lstStyle/>
          <a:p>
            <a:pPr algn="ctr" indent="0" marL="0">
              <a:buNone/>
            </a:pPr>
            <a:r>
              <a:rPr lang="en-US" sz="1200" b="1" dirty="0">
                <a:solidFill>
                  <a:srgbClr val="1B2A4A"/>
                </a:solidFill>
                <a:latin typeface="Arial" pitchFamily="34" charset="0"/>
                <a:ea typeface="Arial" pitchFamily="34" charset="-122"/>
                <a:cs typeface="Arial" pitchFamily="34" charset="-120"/>
              </a:rPr>
              <a:t>Year 1</a:t>
            </a:r>
            <a:endParaRPr lang="en-US" sz="1200" dirty="0"/>
          </a:p>
        </p:txBody>
      </p:sp>
      <p:sp>
        <p:nvSpPr>
          <p:cNvPr id="11" name="Shape 9"/>
          <p:cNvSpPr/>
          <p:nvPr/>
        </p:nvSpPr>
        <p:spPr>
          <a:xfrm>
            <a:off x="9235440" y="914400"/>
            <a:ext cx="2148840" cy="457200"/>
          </a:xfrm>
          <a:prstGeom prst="rect">
            <a:avLst/>
          </a:prstGeom>
          <a:solidFill>
            <a:srgbClr val="D4A017"/>
          </a:solidFill>
          <a:ln w="12700">
            <a:solidFill>
              <a:srgbClr val="D4A017"/>
            </a:solidFill>
            <a:prstDash val="solid"/>
          </a:ln>
        </p:spPr>
      </p:sp>
      <p:sp>
        <p:nvSpPr>
          <p:cNvPr id="12" name="Text 10"/>
          <p:cNvSpPr/>
          <p:nvPr/>
        </p:nvSpPr>
        <p:spPr>
          <a:xfrm>
            <a:off x="9235440" y="914400"/>
            <a:ext cx="2148840" cy="457200"/>
          </a:xfrm>
          <a:prstGeom prst="rect">
            <a:avLst/>
          </a:prstGeom>
          <a:noFill/>
          <a:ln/>
        </p:spPr>
        <p:txBody>
          <a:bodyPr wrap="square" lIns="0" tIns="0" rIns="0" bIns="0" rtlCol="0" anchor="ctr"/>
          <a:lstStyle/>
          <a:p>
            <a:pPr algn="ctr" indent="0" marL="0">
              <a:buNone/>
            </a:pPr>
            <a:r>
              <a:rPr lang="en-US" sz="1200" b="1" dirty="0">
                <a:solidFill>
                  <a:srgbClr val="1B2A4A"/>
                </a:solidFill>
                <a:latin typeface="Arial" pitchFamily="34" charset="0"/>
                <a:ea typeface="Arial" pitchFamily="34" charset="-122"/>
                <a:cs typeface="Arial" pitchFamily="34" charset="-120"/>
              </a:rPr>
              <a:t>Year 2</a:t>
            </a:r>
            <a:endParaRPr lang="en-US" sz="1200" dirty="0"/>
          </a:p>
        </p:txBody>
      </p:sp>
      <p:sp>
        <p:nvSpPr>
          <p:cNvPr id="13" name="Shape 11"/>
          <p:cNvSpPr/>
          <p:nvPr/>
        </p:nvSpPr>
        <p:spPr>
          <a:xfrm>
            <a:off x="457200" y="1417320"/>
            <a:ext cx="2148840" cy="612648"/>
          </a:xfrm>
          <a:prstGeom prst="rect">
            <a:avLst/>
          </a:prstGeom>
          <a:solidFill>
            <a:srgbClr val="243858"/>
          </a:solidFill>
          <a:ln w="12700">
            <a:solidFill>
              <a:srgbClr val="243858"/>
            </a:solidFill>
            <a:prstDash val="solid"/>
          </a:ln>
        </p:spPr>
      </p:sp>
      <p:sp>
        <p:nvSpPr>
          <p:cNvPr id="14" name="Text 12"/>
          <p:cNvSpPr/>
          <p:nvPr/>
        </p:nvSpPr>
        <p:spPr>
          <a:xfrm>
            <a:off x="457200" y="1417320"/>
            <a:ext cx="2148840" cy="612648"/>
          </a:xfrm>
          <a:prstGeom prst="rect">
            <a:avLst/>
          </a:prstGeom>
          <a:noFill/>
          <a:ln/>
        </p:spPr>
        <p:txBody>
          <a:bodyPr wrap="square" lIns="101600" tIns="101600" rIns="101600" bIns="101600" rtlCol="0" anchor="ctr"/>
          <a:lstStyle/>
          <a:p>
            <a:pPr algn="l" indent="0" marL="0">
              <a:buNone/>
            </a:pPr>
            <a:r>
              <a:rPr lang="en-US" sz="1100" dirty="0">
                <a:solidFill>
                  <a:srgbClr val="8090A0"/>
                </a:solidFill>
                <a:latin typeface="Arial" pitchFamily="34" charset="0"/>
                <a:ea typeface="Arial" pitchFamily="34" charset="-122"/>
                <a:cs typeface="Arial" pitchFamily="34" charset="-120"/>
              </a:rPr>
              <a:t>Products in Portfolio</a:t>
            </a:r>
            <a:endParaRPr lang="en-US" sz="1100" dirty="0"/>
          </a:p>
        </p:txBody>
      </p:sp>
      <p:sp>
        <p:nvSpPr>
          <p:cNvPr id="15" name="Shape 13"/>
          <p:cNvSpPr/>
          <p:nvPr/>
        </p:nvSpPr>
        <p:spPr>
          <a:xfrm>
            <a:off x="2651760" y="1417320"/>
            <a:ext cx="2148840" cy="612648"/>
          </a:xfrm>
          <a:prstGeom prst="rect">
            <a:avLst/>
          </a:prstGeom>
          <a:solidFill>
            <a:srgbClr val="243858"/>
          </a:solidFill>
          <a:ln w="12700">
            <a:solidFill>
              <a:srgbClr val="243858"/>
            </a:solidFill>
            <a:prstDash val="solid"/>
          </a:ln>
        </p:spPr>
      </p:sp>
      <p:sp>
        <p:nvSpPr>
          <p:cNvPr id="16" name="Text 14"/>
          <p:cNvSpPr/>
          <p:nvPr/>
        </p:nvSpPr>
        <p:spPr>
          <a:xfrm>
            <a:off x="2651760" y="1417320"/>
            <a:ext cx="2148840" cy="6126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7" name="Shape 15"/>
          <p:cNvSpPr/>
          <p:nvPr/>
        </p:nvSpPr>
        <p:spPr>
          <a:xfrm>
            <a:off x="4846320" y="1417320"/>
            <a:ext cx="2148840" cy="612648"/>
          </a:xfrm>
          <a:prstGeom prst="rect">
            <a:avLst/>
          </a:prstGeom>
          <a:solidFill>
            <a:srgbClr val="243858"/>
          </a:solidFill>
          <a:ln w="12700">
            <a:solidFill>
              <a:srgbClr val="243858"/>
            </a:solidFill>
            <a:prstDash val="solid"/>
          </a:ln>
        </p:spPr>
      </p:sp>
      <p:sp>
        <p:nvSpPr>
          <p:cNvPr id="18" name="Text 16"/>
          <p:cNvSpPr/>
          <p:nvPr/>
        </p:nvSpPr>
        <p:spPr>
          <a:xfrm>
            <a:off x="4846320" y="1417320"/>
            <a:ext cx="2148840" cy="6126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19" name="Shape 17"/>
          <p:cNvSpPr/>
          <p:nvPr/>
        </p:nvSpPr>
        <p:spPr>
          <a:xfrm>
            <a:off x="7040880" y="1417320"/>
            <a:ext cx="2148840" cy="612648"/>
          </a:xfrm>
          <a:prstGeom prst="rect">
            <a:avLst/>
          </a:prstGeom>
          <a:solidFill>
            <a:srgbClr val="243858"/>
          </a:solidFill>
          <a:ln w="12700">
            <a:solidFill>
              <a:srgbClr val="243858"/>
            </a:solidFill>
            <a:prstDash val="solid"/>
          </a:ln>
        </p:spPr>
      </p:sp>
      <p:sp>
        <p:nvSpPr>
          <p:cNvPr id="20" name="Text 18"/>
          <p:cNvSpPr/>
          <p:nvPr/>
        </p:nvSpPr>
        <p:spPr>
          <a:xfrm>
            <a:off x="7040880" y="1417320"/>
            <a:ext cx="2148840" cy="6126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15</a:t>
            </a:r>
            <a:endParaRPr lang="en-US" sz="1300" dirty="0"/>
          </a:p>
        </p:txBody>
      </p:sp>
      <p:sp>
        <p:nvSpPr>
          <p:cNvPr id="21" name="Shape 19"/>
          <p:cNvSpPr/>
          <p:nvPr/>
        </p:nvSpPr>
        <p:spPr>
          <a:xfrm>
            <a:off x="9235440" y="1417320"/>
            <a:ext cx="2148840" cy="612648"/>
          </a:xfrm>
          <a:prstGeom prst="rect">
            <a:avLst/>
          </a:prstGeom>
          <a:solidFill>
            <a:srgbClr val="243858"/>
          </a:solidFill>
          <a:ln w="12700">
            <a:solidFill>
              <a:srgbClr val="243858"/>
            </a:solidFill>
            <a:prstDash val="solid"/>
          </a:ln>
        </p:spPr>
      </p:sp>
      <p:sp>
        <p:nvSpPr>
          <p:cNvPr id="22" name="Text 20"/>
          <p:cNvSpPr/>
          <p:nvPr/>
        </p:nvSpPr>
        <p:spPr>
          <a:xfrm>
            <a:off x="9235440" y="1417320"/>
            <a:ext cx="2148840" cy="6126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30</a:t>
            </a:r>
            <a:endParaRPr lang="en-US" sz="1300" dirty="0"/>
          </a:p>
        </p:txBody>
      </p:sp>
      <p:sp>
        <p:nvSpPr>
          <p:cNvPr id="23" name="Shape 21"/>
          <p:cNvSpPr/>
          <p:nvPr/>
        </p:nvSpPr>
        <p:spPr>
          <a:xfrm>
            <a:off x="457200" y="2075688"/>
            <a:ext cx="2148840" cy="612648"/>
          </a:xfrm>
          <a:prstGeom prst="rect">
            <a:avLst/>
          </a:prstGeom>
          <a:solidFill>
            <a:srgbClr val="1B2A4A"/>
          </a:solidFill>
          <a:ln w="12700">
            <a:solidFill>
              <a:srgbClr val="1B2A4A"/>
            </a:solidFill>
            <a:prstDash val="solid"/>
          </a:ln>
        </p:spPr>
      </p:sp>
      <p:sp>
        <p:nvSpPr>
          <p:cNvPr id="24" name="Text 22"/>
          <p:cNvSpPr/>
          <p:nvPr/>
        </p:nvSpPr>
        <p:spPr>
          <a:xfrm>
            <a:off x="457200" y="2075688"/>
            <a:ext cx="2148840" cy="612648"/>
          </a:xfrm>
          <a:prstGeom prst="rect">
            <a:avLst/>
          </a:prstGeom>
          <a:noFill/>
          <a:ln/>
        </p:spPr>
        <p:txBody>
          <a:bodyPr wrap="square" lIns="101600" tIns="101600" rIns="101600" bIns="101600" rtlCol="0" anchor="ctr"/>
          <a:lstStyle/>
          <a:p>
            <a:pPr algn="l" indent="0" marL="0">
              <a:buNone/>
            </a:pPr>
            <a:r>
              <a:rPr lang="en-US" sz="1100" dirty="0">
                <a:solidFill>
                  <a:srgbClr val="8090A0"/>
                </a:solidFill>
                <a:latin typeface="Arial" pitchFamily="34" charset="0"/>
                <a:ea typeface="Arial" pitchFamily="34" charset="-122"/>
                <a:cs typeface="Arial" pitchFamily="34" charset="-120"/>
              </a:rPr>
              <a:t>Avg Users per Product</a:t>
            </a:r>
            <a:endParaRPr lang="en-US" sz="1100" dirty="0"/>
          </a:p>
        </p:txBody>
      </p:sp>
      <p:sp>
        <p:nvSpPr>
          <p:cNvPr id="25" name="Shape 23"/>
          <p:cNvSpPr/>
          <p:nvPr/>
        </p:nvSpPr>
        <p:spPr>
          <a:xfrm>
            <a:off x="2651760" y="2075688"/>
            <a:ext cx="2148840" cy="612648"/>
          </a:xfrm>
          <a:prstGeom prst="rect">
            <a:avLst/>
          </a:prstGeom>
          <a:solidFill>
            <a:srgbClr val="1B2A4A"/>
          </a:solidFill>
          <a:ln w="12700">
            <a:solidFill>
              <a:srgbClr val="1B2A4A"/>
            </a:solidFill>
            <a:prstDash val="solid"/>
          </a:ln>
        </p:spPr>
      </p:sp>
      <p:sp>
        <p:nvSpPr>
          <p:cNvPr id="26" name="Text 24"/>
          <p:cNvSpPr/>
          <p:nvPr/>
        </p:nvSpPr>
        <p:spPr>
          <a:xfrm>
            <a:off x="2651760" y="2075688"/>
            <a:ext cx="2148840" cy="6126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50</a:t>
            </a:r>
            <a:endParaRPr lang="en-US" sz="1300" dirty="0"/>
          </a:p>
        </p:txBody>
      </p:sp>
      <p:sp>
        <p:nvSpPr>
          <p:cNvPr id="27" name="Shape 25"/>
          <p:cNvSpPr/>
          <p:nvPr/>
        </p:nvSpPr>
        <p:spPr>
          <a:xfrm>
            <a:off x="4846320" y="2075688"/>
            <a:ext cx="2148840" cy="612648"/>
          </a:xfrm>
          <a:prstGeom prst="rect">
            <a:avLst/>
          </a:prstGeom>
          <a:solidFill>
            <a:srgbClr val="1B2A4A"/>
          </a:solidFill>
          <a:ln w="12700">
            <a:solidFill>
              <a:srgbClr val="1B2A4A"/>
            </a:solidFill>
            <a:prstDash val="solid"/>
          </a:ln>
        </p:spPr>
      </p:sp>
      <p:sp>
        <p:nvSpPr>
          <p:cNvPr id="28" name="Text 26"/>
          <p:cNvSpPr/>
          <p:nvPr/>
        </p:nvSpPr>
        <p:spPr>
          <a:xfrm>
            <a:off x="4846320" y="2075688"/>
            <a:ext cx="2148840" cy="6126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100</a:t>
            </a:r>
            <a:endParaRPr lang="en-US" sz="1300" dirty="0"/>
          </a:p>
        </p:txBody>
      </p:sp>
      <p:sp>
        <p:nvSpPr>
          <p:cNvPr id="29" name="Shape 27"/>
          <p:cNvSpPr/>
          <p:nvPr/>
        </p:nvSpPr>
        <p:spPr>
          <a:xfrm>
            <a:off x="7040880" y="2075688"/>
            <a:ext cx="2148840" cy="612648"/>
          </a:xfrm>
          <a:prstGeom prst="rect">
            <a:avLst/>
          </a:prstGeom>
          <a:solidFill>
            <a:srgbClr val="1B2A4A"/>
          </a:solidFill>
          <a:ln w="12700">
            <a:solidFill>
              <a:srgbClr val="1B2A4A"/>
            </a:solidFill>
            <a:prstDash val="solid"/>
          </a:ln>
        </p:spPr>
      </p:sp>
      <p:sp>
        <p:nvSpPr>
          <p:cNvPr id="30" name="Text 28"/>
          <p:cNvSpPr/>
          <p:nvPr/>
        </p:nvSpPr>
        <p:spPr>
          <a:xfrm>
            <a:off x="7040880" y="2075688"/>
            <a:ext cx="2148840" cy="6126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150</a:t>
            </a:r>
            <a:endParaRPr lang="en-US" sz="1300" dirty="0"/>
          </a:p>
        </p:txBody>
      </p:sp>
      <p:sp>
        <p:nvSpPr>
          <p:cNvPr id="31" name="Shape 29"/>
          <p:cNvSpPr/>
          <p:nvPr/>
        </p:nvSpPr>
        <p:spPr>
          <a:xfrm>
            <a:off x="9235440" y="2075688"/>
            <a:ext cx="2148840" cy="612648"/>
          </a:xfrm>
          <a:prstGeom prst="rect">
            <a:avLst/>
          </a:prstGeom>
          <a:solidFill>
            <a:srgbClr val="1B2A4A"/>
          </a:solidFill>
          <a:ln w="12700">
            <a:solidFill>
              <a:srgbClr val="1B2A4A"/>
            </a:solidFill>
            <a:prstDash val="solid"/>
          </a:ln>
        </p:spPr>
      </p:sp>
      <p:sp>
        <p:nvSpPr>
          <p:cNvPr id="32" name="Text 30"/>
          <p:cNvSpPr/>
          <p:nvPr/>
        </p:nvSpPr>
        <p:spPr>
          <a:xfrm>
            <a:off x="9235440" y="2075688"/>
            <a:ext cx="2148840" cy="6126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200</a:t>
            </a:r>
            <a:endParaRPr lang="en-US" sz="1300" dirty="0"/>
          </a:p>
        </p:txBody>
      </p:sp>
      <p:sp>
        <p:nvSpPr>
          <p:cNvPr id="33" name="Shape 31"/>
          <p:cNvSpPr/>
          <p:nvPr/>
        </p:nvSpPr>
        <p:spPr>
          <a:xfrm>
            <a:off x="457200" y="2734056"/>
            <a:ext cx="2148840" cy="612648"/>
          </a:xfrm>
          <a:prstGeom prst="rect">
            <a:avLst/>
          </a:prstGeom>
          <a:solidFill>
            <a:srgbClr val="243858"/>
          </a:solidFill>
          <a:ln w="12700">
            <a:solidFill>
              <a:srgbClr val="243858"/>
            </a:solidFill>
            <a:prstDash val="solid"/>
          </a:ln>
        </p:spPr>
      </p:sp>
      <p:sp>
        <p:nvSpPr>
          <p:cNvPr id="34" name="Text 32"/>
          <p:cNvSpPr/>
          <p:nvPr/>
        </p:nvSpPr>
        <p:spPr>
          <a:xfrm>
            <a:off x="457200" y="2734056"/>
            <a:ext cx="2148840" cy="612648"/>
          </a:xfrm>
          <a:prstGeom prst="rect">
            <a:avLst/>
          </a:prstGeom>
          <a:noFill/>
          <a:ln/>
        </p:spPr>
        <p:txBody>
          <a:bodyPr wrap="square" lIns="101600" tIns="101600" rIns="101600" bIns="101600" rtlCol="0" anchor="ctr"/>
          <a:lstStyle/>
          <a:p>
            <a:pPr algn="l" indent="0" marL="0">
              <a:buNone/>
            </a:pPr>
            <a:r>
              <a:rPr lang="en-US" sz="1100" dirty="0">
                <a:solidFill>
                  <a:srgbClr val="8090A0"/>
                </a:solidFill>
                <a:latin typeface="Arial" pitchFamily="34" charset="0"/>
                <a:ea typeface="Arial" pitchFamily="34" charset="-122"/>
                <a:cs typeface="Arial" pitchFamily="34" charset="-120"/>
              </a:rPr>
              <a:t>Avg MRR per Product</a:t>
            </a:r>
            <a:endParaRPr lang="en-US" sz="1100" dirty="0"/>
          </a:p>
        </p:txBody>
      </p:sp>
      <p:sp>
        <p:nvSpPr>
          <p:cNvPr id="35" name="Shape 33"/>
          <p:cNvSpPr/>
          <p:nvPr/>
        </p:nvSpPr>
        <p:spPr>
          <a:xfrm>
            <a:off x="2651760" y="2734056"/>
            <a:ext cx="2148840" cy="612648"/>
          </a:xfrm>
          <a:prstGeom prst="rect">
            <a:avLst/>
          </a:prstGeom>
          <a:solidFill>
            <a:srgbClr val="243858"/>
          </a:solidFill>
          <a:ln w="12700">
            <a:solidFill>
              <a:srgbClr val="243858"/>
            </a:solidFill>
            <a:prstDash val="solid"/>
          </a:ln>
        </p:spPr>
      </p:sp>
      <p:sp>
        <p:nvSpPr>
          <p:cNvPr id="36" name="Text 34"/>
          <p:cNvSpPr/>
          <p:nvPr/>
        </p:nvSpPr>
        <p:spPr>
          <a:xfrm>
            <a:off x="2651760" y="2734056"/>
            <a:ext cx="2148840" cy="6126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R15,000</a:t>
            </a:r>
            <a:endParaRPr lang="en-US" sz="1300" dirty="0"/>
          </a:p>
        </p:txBody>
      </p:sp>
      <p:sp>
        <p:nvSpPr>
          <p:cNvPr id="37" name="Shape 35"/>
          <p:cNvSpPr/>
          <p:nvPr/>
        </p:nvSpPr>
        <p:spPr>
          <a:xfrm>
            <a:off x="4846320" y="2734056"/>
            <a:ext cx="2148840" cy="612648"/>
          </a:xfrm>
          <a:prstGeom prst="rect">
            <a:avLst/>
          </a:prstGeom>
          <a:solidFill>
            <a:srgbClr val="243858"/>
          </a:solidFill>
          <a:ln w="12700">
            <a:solidFill>
              <a:srgbClr val="243858"/>
            </a:solidFill>
            <a:prstDash val="solid"/>
          </a:ln>
        </p:spPr>
      </p:sp>
      <p:sp>
        <p:nvSpPr>
          <p:cNvPr id="38" name="Text 36"/>
          <p:cNvSpPr/>
          <p:nvPr/>
        </p:nvSpPr>
        <p:spPr>
          <a:xfrm>
            <a:off x="4846320" y="2734056"/>
            <a:ext cx="2148840" cy="6126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R35,000</a:t>
            </a:r>
            <a:endParaRPr lang="en-US" sz="1300" dirty="0"/>
          </a:p>
        </p:txBody>
      </p:sp>
      <p:sp>
        <p:nvSpPr>
          <p:cNvPr id="39" name="Shape 37"/>
          <p:cNvSpPr/>
          <p:nvPr/>
        </p:nvSpPr>
        <p:spPr>
          <a:xfrm>
            <a:off x="7040880" y="2734056"/>
            <a:ext cx="2148840" cy="612648"/>
          </a:xfrm>
          <a:prstGeom prst="rect">
            <a:avLst/>
          </a:prstGeom>
          <a:solidFill>
            <a:srgbClr val="243858"/>
          </a:solidFill>
          <a:ln w="12700">
            <a:solidFill>
              <a:srgbClr val="243858"/>
            </a:solidFill>
            <a:prstDash val="solid"/>
          </a:ln>
        </p:spPr>
      </p:sp>
      <p:sp>
        <p:nvSpPr>
          <p:cNvPr id="40" name="Text 38"/>
          <p:cNvSpPr/>
          <p:nvPr/>
        </p:nvSpPr>
        <p:spPr>
          <a:xfrm>
            <a:off x="7040880" y="2734056"/>
            <a:ext cx="2148840" cy="6126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R55,000</a:t>
            </a:r>
            <a:endParaRPr lang="en-US" sz="1300" dirty="0"/>
          </a:p>
        </p:txBody>
      </p:sp>
      <p:sp>
        <p:nvSpPr>
          <p:cNvPr id="41" name="Shape 39"/>
          <p:cNvSpPr/>
          <p:nvPr/>
        </p:nvSpPr>
        <p:spPr>
          <a:xfrm>
            <a:off x="9235440" y="2734056"/>
            <a:ext cx="2148840" cy="612648"/>
          </a:xfrm>
          <a:prstGeom prst="rect">
            <a:avLst/>
          </a:prstGeom>
          <a:solidFill>
            <a:srgbClr val="243858"/>
          </a:solidFill>
          <a:ln w="12700">
            <a:solidFill>
              <a:srgbClr val="243858"/>
            </a:solidFill>
            <a:prstDash val="solid"/>
          </a:ln>
        </p:spPr>
      </p:sp>
      <p:sp>
        <p:nvSpPr>
          <p:cNvPr id="42" name="Text 40"/>
          <p:cNvSpPr/>
          <p:nvPr/>
        </p:nvSpPr>
        <p:spPr>
          <a:xfrm>
            <a:off x="9235440" y="2734056"/>
            <a:ext cx="2148840" cy="6126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R80,000</a:t>
            </a:r>
            <a:endParaRPr lang="en-US" sz="1300" dirty="0"/>
          </a:p>
        </p:txBody>
      </p:sp>
      <p:sp>
        <p:nvSpPr>
          <p:cNvPr id="43" name="Shape 41"/>
          <p:cNvSpPr/>
          <p:nvPr/>
        </p:nvSpPr>
        <p:spPr>
          <a:xfrm>
            <a:off x="457200" y="3392424"/>
            <a:ext cx="2148840" cy="612648"/>
          </a:xfrm>
          <a:prstGeom prst="rect">
            <a:avLst/>
          </a:prstGeom>
          <a:solidFill>
            <a:srgbClr val="1B2A4A"/>
          </a:solidFill>
          <a:ln w="12700">
            <a:solidFill>
              <a:srgbClr val="1B2A4A"/>
            </a:solidFill>
            <a:prstDash val="solid"/>
          </a:ln>
        </p:spPr>
      </p:sp>
      <p:sp>
        <p:nvSpPr>
          <p:cNvPr id="44" name="Text 42"/>
          <p:cNvSpPr/>
          <p:nvPr/>
        </p:nvSpPr>
        <p:spPr>
          <a:xfrm>
            <a:off x="457200" y="3392424"/>
            <a:ext cx="2148840" cy="612648"/>
          </a:xfrm>
          <a:prstGeom prst="rect">
            <a:avLst/>
          </a:prstGeom>
          <a:noFill/>
          <a:ln/>
        </p:spPr>
        <p:txBody>
          <a:bodyPr wrap="square" lIns="101600" tIns="101600" rIns="101600" bIns="101600" rtlCol="0" anchor="ctr"/>
          <a:lstStyle/>
          <a:p>
            <a:pPr algn="l" indent="0" marL="0">
              <a:buNone/>
            </a:pPr>
            <a:r>
              <a:rPr lang="en-US" sz="1100" dirty="0">
                <a:solidFill>
                  <a:srgbClr val="8090A0"/>
                </a:solidFill>
                <a:latin typeface="Arial" pitchFamily="34" charset="0"/>
                <a:ea typeface="Arial" pitchFamily="34" charset="-122"/>
                <a:cs typeface="Arial" pitchFamily="34" charset="-120"/>
              </a:rPr>
              <a:t>Total Portfolio MRR</a:t>
            </a:r>
            <a:endParaRPr lang="en-US" sz="1100" dirty="0"/>
          </a:p>
        </p:txBody>
      </p:sp>
      <p:sp>
        <p:nvSpPr>
          <p:cNvPr id="45" name="Shape 43"/>
          <p:cNvSpPr/>
          <p:nvPr/>
        </p:nvSpPr>
        <p:spPr>
          <a:xfrm>
            <a:off x="2651760" y="3392424"/>
            <a:ext cx="2148840" cy="612648"/>
          </a:xfrm>
          <a:prstGeom prst="rect">
            <a:avLst/>
          </a:prstGeom>
          <a:solidFill>
            <a:srgbClr val="1B2A4A"/>
          </a:solidFill>
          <a:ln w="12700">
            <a:solidFill>
              <a:srgbClr val="1B2A4A"/>
            </a:solidFill>
            <a:prstDash val="solid"/>
          </a:ln>
        </p:spPr>
      </p:sp>
      <p:sp>
        <p:nvSpPr>
          <p:cNvPr id="46" name="Text 44"/>
          <p:cNvSpPr/>
          <p:nvPr/>
        </p:nvSpPr>
        <p:spPr>
          <a:xfrm>
            <a:off x="2651760" y="3392424"/>
            <a:ext cx="2148840" cy="6126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R15,000</a:t>
            </a:r>
            <a:endParaRPr lang="en-US" sz="1300" dirty="0"/>
          </a:p>
        </p:txBody>
      </p:sp>
      <p:sp>
        <p:nvSpPr>
          <p:cNvPr id="47" name="Shape 45"/>
          <p:cNvSpPr/>
          <p:nvPr/>
        </p:nvSpPr>
        <p:spPr>
          <a:xfrm>
            <a:off x="4846320" y="3392424"/>
            <a:ext cx="2148840" cy="612648"/>
          </a:xfrm>
          <a:prstGeom prst="rect">
            <a:avLst/>
          </a:prstGeom>
          <a:solidFill>
            <a:srgbClr val="1B2A4A"/>
          </a:solidFill>
          <a:ln w="12700">
            <a:solidFill>
              <a:srgbClr val="1B2A4A"/>
            </a:solidFill>
            <a:prstDash val="solid"/>
          </a:ln>
        </p:spPr>
      </p:sp>
      <p:sp>
        <p:nvSpPr>
          <p:cNvPr id="48" name="Text 46"/>
          <p:cNvSpPr/>
          <p:nvPr/>
        </p:nvSpPr>
        <p:spPr>
          <a:xfrm>
            <a:off x="4846320" y="3392424"/>
            <a:ext cx="2148840" cy="6126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R175,000</a:t>
            </a:r>
            <a:endParaRPr lang="en-US" sz="1300" dirty="0"/>
          </a:p>
        </p:txBody>
      </p:sp>
      <p:sp>
        <p:nvSpPr>
          <p:cNvPr id="49" name="Shape 47"/>
          <p:cNvSpPr/>
          <p:nvPr/>
        </p:nvSpPr>
        <p:spPr>
          <a:xfrm>
            <a:off x="7040880" y="3392424"/>
            <a:ext cx="2148840" cy="612648"/>
          </a:xfrm>
          <a:prstGeom prst="rect">
            <a:avLst/>
          </a:prstGeom>
          <a:solidFill>
            <a:srgbClr val="1B2A4A"/>
          </a:solidFill>
          <a:ln w="12700">
            <a:solidFill>
              <a:srgbClr val="1B2A4A"/>
            </a:solidFill>
            <a:prstDash val="solid"/>
          </a:ln>
        </p:spPr>
      </p:sp>
      <p:sp>
        <p:nvSpPr>
          <p:cNvPr id="50" name="Text 48"/>
          <p:cNvSpPr/>
          <p:nvPr/>
        </p:nvSpPr>
        <p:spPr>
          <a:xfrm>
            <a:off x="7040880" y="3392424"/>
            <a:ext cx="2148840" cy="6126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R825,000</a:t>
            </a:r>
            <a:endParaRPr lang="en-US" sz="1300" dirty="0"/>
          </a:p>
        </p:txBody>
      </p:sp>
      <p:sp>
        <p:nvSpPr>
          <p:cNvPr id="51" name="Shape 49"/>
          <p:cNvSpPr/>
          <p:nvPr/>
        </p:nvSpPr>
        <p:spPr>
          <a:xfrm>
            <a:off x="9235440" y="3392424"/>
            <a:ext cx="2148840" cy="612648"/>
          </a:xfrm>
          <a:prstGeom prst="rect">
            <a:avLst/>
          </a:prstGeom>
          <a:solidFill>
            <a:srgbClr val="1B2A4A"/>
          </a:solidFill>
          <a:ln w="12700">
            <a:solidFill>
              <a:srgbClr val="1B2A4A"/>
            </a:solidFill>
            <a:prstDash val="solid"/>
          </a:ln>
        </p:spPr>
      </p:sp>
      <p:sp>
        <p:nvSpPr>
          <p:cNvPr id="52" name="Text 50"/>
          <p:cNvSpPr/>
          <p:nvPr/>
        </p:nvSpPr>
        <p:spPr>
          <a:xfrm>
            <a:off x="9235440" y="3392424"/>
            <a:ext cx="2148840" cy="6126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R2,400,000</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182880"/>
            <a:ext cx="9144000" cy="411480"/>
          </a:xfrm>
          <a:prstGeom prst="rect">
            <a:avLst/>
          </a:prstGeom>
          <a:solidFill>
            <a:srgbClr val="1B2A4A"/>
          </a:solidFill>
          <a:ln w="12700">
            <a:solidFill>
              <a:srgbClr val="1B2A4A"/>
            </a:solidFill>
            <a:prstDash val="solid"/>
          </a:ln>
        </p:spPr>
      </p:sp>
      <p:sp>
        <p:nvSpPr>
          <p:cNvPr id="3" name="Text 1"/>
          <p:cNvSpPr/>
          <p:nvPr/>
        </p:nvSpPr>
        <p:spPr>
          <a:xfrm>
            <a:off x="274320" y="237744"/>
            <a:ext cx="8229600" cy="292608"/>
          </a:xfrm>
          <a:prstGeom prst="rect">
            <a:avLst/>
          </a:prstGeom>
          <a:noFill/>
          <a:ln/>
        </p:spPr>
        <p:txBody>
          <a:bodyPr wrap="square" lIns="0" tIns="0" rIns="0" bIns="0" rtlCol="0" anchor="ctr"/>
          <a:lstStyle/>
          <a:p>
            <a:pPr indent="0" marL="0">
              <a:buNone/>
            </a:pPr>
            <a:r>
              <a:rPr lang="en-US" sz="1100" b="1" spc="300" kern="0" dirty="0">
                <a:solidFill>
                  <a:srgbClr val="D4A017"/>
                </a:solidFill>
                <a:latin typeface="Arial" pitchFamily="34" charset="0"/>
                <a:ea typeface="Arial" pitchFamily="34" charset="-122"/>
                <a:cs typeface="Arial" pitchFamily="34" charset="-120"/>
              </a:rPr>
              <a:t>90-DAY ACTION PLAN — START THIS WEEK</a:t>
            </a:r>
            <a:endParaRPr lang="en-US" sz="1100" dirty="0"/>
          </a:p>
        </p:txBody>
      </p:sp>
      <p:sp>
        <p:nvSpPr>
          <p:cNvPr id="4" name="Text 2"/>
          <p:cNvSpPr/>
          <p:nvPr/>
        </p:nvSpPr>
        <p:spPr>
          <a:xfrm>
            <a:off x="457200" y="777240"/>
            <a:ext cx="10972800" cy="640080"/>
          </a:xfrm>
          <a:prstGeom prst="rect">
            <a:avLst/>
          </a:prstGeom>
          <a:noFill/>
          <a:ln/>
        </p:spPr>
        <p:txBody>
          <a:bodyPr wrap="square" lIns="0" tIns="0" rIns="0" bIns="0" rtlCol="0" anchor="ctr"/>
          <a:lstStyle/>
          <a:p>
            <a:pPr indent="0" marL="0">
              <a:buNone/>
            </a:pPr>
            <a:r>
              <a:rPr lang="en-US" sz="2200" b="1" dirty="0">
                <a:solidFill>
                  <a:srgbClr val="1B2A4A"/>
                </a:solidFill>
                <a:latin typeface="Arial" pitchFamily="34" charset="0"/>
                <a:ea typeface="Arial" pitchFamily="34" charset="-122"/>
                <a:cs typeface="Arial" pitchFamily="34" charset="-120"/>
              </a:rPr>
              <a:t>From zero to first client in 90 days</a:t>
            </a:r>
            <a:endParaRPr lang="en-US" sz="2200" dirty="0"/>
          </a:p>
        </p:txBody>
      </p:sp>
      <p:sp>
        <p:nvSpPr>
          <p:cNvPr id="5" name="Shape 3"/>
          <p:cNvSpPr/>
          <p:nvPr/>
        </p:nvSpPr>
        <p:spPr>
          <a:xfrm>
            <a:off x="457200" y="1508760"/>
            <a:ext cx="8229600" cy="36576"/>
          </a:xfrm>
          <a:prstGeom prst="rect">
            <a:avLst/>
          </a:prstGeom>
          <a:solidFill>
            <a:srgbClr val="D4A017"/>
          </a:solidFill>
          <a:ln w="12700">
            <a:solidFill>
              <a:srgbClr val="D4A017"/>
            </a:solidFill>
            <a:prstDash val="solid"/>
          </a:ln>
        </p:spPr>
      </p:sp>
      <p:sp>
        <p:nvSpPr>
          <p:cNvPr id="6" name="Shape 4"/>
          <p:cNvSpPr/>
          <p:nvPr/>
        </p:nvSpPr>
        <p:spPr>
          <a:xfrm>
            <a:off x="365760" y="1691640"/>
            <a:ext cx="2606040" cy="4663440"/>
          </a:xfrm>
          <a:prstGeom prst="rect">
            <a:avLst>
              <a:gd name="adj" fmla="val 3509"/>
            </a:avLst>
          </a:prstGeom>
          <a:solidFill>
            <a:srgbClr val="E8EDF5"/>
          </a:solidFill>
          <a:ln w="25400">
            <a:solidFill>
              <a:srgbClr val="1A56A0"/>
            </a:solidFill>
            <a:prstDash val="solid"/>
          </a:ln>
        </p:spPr>
      </p:sp>
      <p:sp>
        <p:nvSpPr>
          <p:cNvPr id="7" name="Shape 5"/>
          <p:cNvSpPr/>
          <p:nvPr/>
        </p:nvSpPr>
        <p:spPr>
          <a:xfrm>
            <a:off x="365760" y="1691640"/>
            <a:ext cx="2606040" cy="502920"/>
          </a:xfrm>
          <a:prstGeom prst="rect">
            <a:avLst>
              <a:gd name="adj" fmla="val 10909"/>
            </a:avLst>
          </a:prstGeom>
          <a:solidFill>
            <a:srgbClr val="1A56A0"/>
          </a:solidFill>
          <a:ln w="12700">
            <a:solidFill>
              <a:srgbClr val="1A56A0"/>
            </a:solidFill>
            <a:prstDash val="solid"/>
          </a:ln>
        </p:spPr>
      </p:sp>
      <p:sp>
        <p:nvSpPr>
          <p:cNvPr id="8" name="Text 6"/>
          <p:cNvSpPr/>
          <p:nvPr/>
        </p:nvSpPr>
        <p:spPr>
          <a:xfrm>
            <a:off x="365760" y="1691640"/>
            <a:ext cx="260604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WEEK 1-2</a:t>
            </a:r>
            <a:endParaRPr lang="en-US" sz="1100" dirty="0"/>
          </a:p>
        </p:txBody>
      </p:sp>
      <p:sp>
        <p:nvSpPr>
          <p:cNvPr id="9" name="Shape 7"/>
          <p:cNvSpPr/>
          <p:nvPr/>
        </p:nvSpPr>
        <p:spPr>
          <a:xfrm>
            <a:off x="502920" y="2331720"/>
            <a:ext cx="274320" cy="274320"/>
          </a:xfrm>
          <a:prstGeom prst="rect">
            <a:avLst>
              <a:gd name="adj" fmla="val 13333"/>
            </a:avLst>
          </a:prstGeom>
          <a:solidFill>
            <a:srgbClr val="1A56A0"/>
          </a:solidFill>
          <a:ln w="12700">
            <a:solidFill>
              <a:srgbClr val="1A56A0"/>
            </a:solidFill>
            <a:prstDash val="solid"/>
          </a:ln>
        </p:spPr>
      </p:sp>
      <p:sp>
        <p:nvSpPr>
          <p:cNvPr id="10" name="Text 8"/>
          <p:cNvSpPr/>
          <p:nvPr/>
        </p:nvSpPr>
        <p:spPr>
          <a:xfrm>
            <a:off x="868680" y="2286000"/>
            <a:ext cx="2011680" cy="749808"/>
          </a:xfrm>
          <a:prstGeom prst="rect">
            <a:avLst/>
          </a:prstGeom>
          <a:noFill/>
          <a:ln/>
        </p:spPr>
        <p:txBody>
          <a:bodyPr wrap="square" lIns="0" tIns="0" rIns="0" bIns="0" rtlCol="0" anchor="ctr"/>
          <a:lstStyle/>
          <a:p>
            <a:pPr indent="0" marL="0">
              <a:buNone/>
            </a:pPr>
            <a:r>
              <a:rPr lang="en-US" sz="1000" dirty="0">
                <a:solidFill>
                  <a:srgbClr val="1B2A4A"/>
                </a:solidFill>
                <a:latin typeface="Arial" pitchFamily="34" charset="0"/>
                <a:ea typeface="Arial" pitchFamily="34" charset="-122"/>
                <a:cs typeface="Arial" pitchFamily="34" charset="-120"/>
              </a:rPr>
              <a:t>Interview 20 potential users in 1 niche</a:t>
            </a:r>
            <a:endParaRPr lang="en-US" sz="1000" dirty="0"/>
          </a:p>
        </p:txBody>
      </p:sp>
      <p:sp>
        <p:nvSpPr>
          <p:cNvPr id="11" name="Shape 9"/>
          <p:cNvSpPr/>
          <p:nvPr/>
        </p:nvSpPr>
        <p:spPr>
          <a:xfrm>
            <a:off x="502920" y="3108960"/>
            <a:ext cx="274320" cy="274320"/>
          </a:xfrm>
          <a:prstGeom prst="rect">
            <a:avLst>
              <a:gd name="adj" fmla="val 13333"/>
            </a:avLst>
          </a:prstGeom>
          <a:solidFill>
            <a:srgbClr val="1A56A0"/>
          </a:solidFill>
          <a:ln w="12700">
            <a:solidFill>
              <a:srgbClr val="1A56A0"/>
            </a:solidFill>
            <a:prstDash val="solid"/>
          </a:ln>
        </p:spPr>
      </p:sp>
      <p:sp>
        <p:nvSpPr>
          <p:cNvPr id="12" name="Text 10"/>
          <p:cNvSpPr/>
          <p:nvPr/>
        </p:nvSpPr>
        <p:spPr>
          <a:xfrm>
            <a:off x="868680" y="3063240"/>
            <a:ext cx="2011680" cy="749808"/>
          </a:xfrm>
          <a:prstGeom prst="rect">
            <a:avLst/>
          </a:prstGeom>
          <a:noFill/>
          <a:ln/>
        </p:spPr>
        <p:txBody>
          <a:bodyPr wrap="square" lIns="0" tIns="0" rIns="0" bIns="0" rtlCol="0" anchor="ctr"/>
          <a:lstStyle/>
          <a:p>
            <a:pPr indent="0" marL="0">
              <a:buNone/>
            </a:pPr>
            <a:r>
              <a:rPr lang="en-US" sz="1000" dirty="0">
                <a:solidFill>
                  <a:srgbClr val="1B2A4A"/>
                </a:solidFill>
                <a:latin typeface="Arial" pitchFamily="34" charset="0"/>
                <a:ea typeface="Arial" pitchFamily="34" charset="-122"/>
                <a:cs typeface="Arial" pitchFamily="34" charset="-120"/>
              </a:rPr>
              <a:t>Validate pain</a:t>
            </a:r>
            <a:endParaRPr lang="en-US" sz="1000" dirty="0"/>
          </a:p>
        </p:txBody>
      </p:sp>
      <p:sp>
        <p:nvSpPr>
          <p:cNvPr id="13" name="Shape 11"/>
          <p:cNvSpPr/>
          <p:nvPr/>
        </p:nvSpPr>
        <p:spPr>
          <a:xfrm>
            <a:off x="502920" y="3886200"/>
            <a:ext cx="274320" cy="274320"/>
          </a:xfrm>
          <a:prstGeom prst="rect">
            <a:avLst>
              <a:gd name="adj" fmla="val 13333"/>
            </a:avLst>
          </a:prstGeom>
          <a:solidFill>
            <a:srgbClr val="1A56A0"/>
          </a:solidFill>
          <a:ln w="12700">
            <a:solidFill>
              <a:srgbClr val="1A56A0"/>
            </a:solidFill>
            <a:prstDash val="solid"/>
          </a:ln>
        </p:spPr>
      </p:sp>
      <p:sp>
        <p:nvSpPr>
          <p:cNvPr id="14" name="Text 12"/>
          <p:cNvSpPr/>
          <p:nvPr/>
        </p:nvSpPr>
        <p:spPr>
          <a:xfrm>
            <a:off x="868680" y="3840480"/>
            <a:ext cx="2011680" cy="749808"/>
          </a:xfrm>
          <a:prstGeom prst="rect">
            <a:avLst/>
          </a:prstGeom>
          <a:noFill/>
          <a:ln/>
        </p:spPr>
        <p:txBody>
          <a:bodyPr wrap="square" lIns="0" tIns="0" rIns="0" bIns="0" rtlCol="0" anchor="ctr"/>
          <a:lstStyle/>
          <a:p>
            <a:pPr indent="0" marL="0">
              <a:buNone/>
            </a:pPr>
            <a:r>
              <a:rPr lang="en-US" sz="1000" dirty="0">
                <a:solidFill>
                  <a:srgbClr val="1B2A4A"/>
                </a:solidFill>
                <a:latin typeface="Arial" pitchFamily="34" charset="0"/>
                <a:ea typeface="Arial" pitchFamily="34" charset="-122"/>
                <a:cs typeface="Arial" pitchFamily="34" charset="-120"/>
              </a:rPr>
              <a:t>Commit to niche</a:t>
            </a:r>
            <a:endParaRPr lang="en-US" sz="1000" dirty="0"/>
          </a:p>
        </p:txBody>
      </p:sp>
      <p:sp>
        <p:nvSpPr>
          <p:cNvPr id="15" name="Shape 13"/>
          <p:cNvSpPr/>
          <p:nvPr/>
        </p:nvSpPr>
        <p:spPr>
          <a:xfrm>
            <a:off x="3200400" y="1691640"/>
            <a:ext cx="2606040" cy="4663440"/>
          </a:xfrm>
          <a:prstGeom prst="rect">
            <a:avLst>
              <a:gd name="adj" fmla="val 3509"/>
            </a:avLst>
          </a:prstGeom>
          <a:solidFill>
            <a:srgbClr val="E8EDF5"/>
          </a:solidFill>
          <a:ln w="25400">
            <a:solidFill>
              <a:srgbClr val="2D9B6F"/>
            </a:solidFill>
            <a:prstDash val="solid"/>
          </a:ln>
        </p:spPr>
      </p:sp>
      <p:sp>
        <p:nvSpPr>
          <p:cNvPr id="16" name="Shape 14"/>
          <p:cNvSpPr/>
          <p:nvPr/>
        </p:nvSpPr>
        <p:spPr>
          <a:xfrm>
            <a:off x="3200400" y="1691640"/>
            <a:ext cx="2606040" cy="502920"/>
          </a:xfrm>
          <a:prstGeom prst="rect">
            <a:avLst>
              <a:gd name="adj" fmla="val 10909"/>
            </a:avLst>
          </a:prstGeom>
          <a:solidFill>
            <a:srgbClr val="2D9B6F"/>
          </a:solidFill>
          <a:ln w="12700">
            <a:solidFill>
              <a:srgbClr val="2D9B6F"/>
            </a:solidFill>
            <a:prstDash val="solid"/>
          </a:ln>
        </p:spPr>
      </p:sp>
      <p:sp>
        <p:nvSpPr>
          <p:cNvPr id="17" name="Text 15"/>
          <p:cNvSpPr/>
          <p:nvPr/>
        </p:nvSpPr>
        <p:spPr>
          <a:xfrm>
            <a:off x="3200400" y="1691640"/>
            <a:ext cx="260604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WEEK 3-6</a:t>
            </a:r>
            <a:endParaRPr lang="en-US" sz="1100" dirty="0"/>
          </a:p>
        </p:txBody>
      </p:sp>
      <p:sp>
        <p:nvSpPr>
          <p:cNvPr id="18" name="Shape 16"/>
          <p:cNvSpPr/>
          <p:nvPr/>
        </p:nvSpPr>
        <p:spPr>
          <a:xfrm>
            <a:off x="3337560" y="2331720"/>
            <a:ext cx="274320" cy="274320"/>
          </a:xfrm>
          <a:prstGeom prst="rect">
            <a:avLst>
              <a:gd name="adj" fmla="val 13333"/>
            </a:avLst>
          </a:prstGeom>
          <a:solidFill>
            <a:srgbClr val="2D9B6F"/>
          </a:solidFill>
          <a:ln w="12700">
            <a:solidFill>
              <a:srgbClr val="2D9B6F"/>
            </a:solidFill>
            <a:prstDash val="solid"/>
          </a:ln>
        </p:spPr>
      </p:sp>
      <p:sp>
        <p:nvSpPr>
          <p:cNvPr id="19" name="Text 17"/>
          <p:cNvSpPr/>
          <p:nvPr/>
        </p:nvSpPr>
        <p:spPr>
          <a:xfrm>
            <a:off x="3703320" y="2286000"/>
            <a:ext cx="2011680" cy="749808"/>
          </a:xfrm>
          <a:prstGeom prst="rect">
            <a:avLst/>
          </a:prstGeom>
          <a:noFill/>
          <a:ln/>
        </p:spPr>
        <p:txBody>
          <a:bodyPr wrap="square" lIns="0" tIns="0" rIns="0" bIns="0" rtlCol="0" anchor="ctr"/>
          <a:lstStyle/>
          <a:p>
            <a:pPr indent="0" marL="0">
              <a:buNone/>
            </a:pPr>
            <a:r>
              <a:rPr lang="en-US" sz="1000" dirty="0">
                <a:solidFill>
                  <a:srgbClr val="1B2A4A"/>
                </a:solidFill>
                <a:latin typeface="Arial" pitchFamily="34" charset="0"/>
                <a:ea typeface="Arial" pitchFamily="34" charset="-122"/>
                <a:cs typeface="Arial" pitchFamily="34" charset="-120"/>
              </a:rPr>
              <a:t>Build MVP on Lovable.dev + Supabase</a:t>
            </a:r>
            <a:endParaRPr lang="en-US" sz="1000" dirty="0"/>
          </a:p>
        </p:txBody>
      </p:sp>
      <p:sp>
        <p:nvSpPr>
          <p:cNvPr id="20" name="Shape 18"/>
          <p:cNvSpPr/>
          <p:nvPr/>
        </p:nvSpPr>
        <p:spPr>
          <a:xfrm>
            <a:off x="3337560" y="3108960"/>
            <a:ext cx="274320" cy="274320"/>
          </a:xfrm>
          <a:prstGeom prst="rect">
            <a:avLst>
              <a:gd name="adj" fmla="val 13333"/>
            </a:avLst>
          </a:prstGeom>
          <a:solidFill>
            <a:srgbClr val="2D9B6F"/>
          </a:solidFill>
          <a:ln w="12700">
            <a:solidFill>
              <a:srgbClr val="2D9B6F"/>
            </a:solidFill>
            <a:prstDash val="solid"/>
          </a:ln>
        </p:spPr>
      </p:sp>
      <p:sp>
        <p:nvSpPr>
          <p:cNvPr id="21" name="Text 19"/>
          <p:cNvSpPr/>
          <p:nvPr/>
        </p:nvSpPr>
        <p:spPr>
          <a:xfrm>
            <a:off x="3703320" y="3063240"/>
            <a:ext cx="2011680" cy="749808"/>
          </a:xfrm>
          <a:prstGeom prst="rect">
            <a:avLst/>
          </a:prstGeom>
          <a:noFill/>
          <a:ln/>
        </p:spPr>
        <p:txBody>
          <a:bodyPr wrap="square" lIns="0" tIns="0" rIns="0" bIns="0" rtlCol="0" anchor="ctr"/>
          <a:lstStyle/>
          <a:p>
            <a:pPr indent="0" marL="0">
              <a:buNone/>
            </a:pPr>
            <a:r>
              <a:rPr lang="en-US" sz="1000" dirty="0">
                <a:solidFill>
                  <a:srgbClr val="1B2A4A"/>
                </a:solidFill>
                <a:latin typeface="Arial" pitchFamily="34" charset="0"/>
                <a:ea typeface="Arial" pitchFamily="34" charset="-122"/>
                <a:cs typeface="Arial" pitchFamily="34" charset="-120"/>
              </a:rPr>
              <a:t>Core feature only</a:t>
            </a:r>
            <a:endParaRPr lang="en-US" sz="1000" dirty="0"/>
          </a:p>
        </p:txBody>
      </p:sp>
      <p:sp>
        <p:nvSpPr>
          <p:cNvPr id="22" name="Shape 20"/>
          <p:cNvSpPr/>
          <p:nvPr/>
        </p:nvSpPr>
        <p:spPr>
          <a:xfrm>
            <a:off x="3337560" y="3886200"/>
            <a:ext cx="274320" cy="274320"/>
          </a:xfrm>
          <a:prstGeom prst="rect">
            <a:avLst>
              <a:gd name="adj" fmla="val 13333"/>
            </a:avLst>
          </a:prstGeom>
          <a:solidFill>
            <a:srgbClr val="2D9B6F"/>
          </a:solidFill>
          <a:ln w="12700">
            <a:solidFill>
              <a:srgbClr val="2D9B6F"/>
            </a:solidFill>
            <a:prstDash val="solid"/>
          </a:ln>
        </p:spPr>
      </p:sp>
      <p:sp>
        <p:nvSpPr>
          <p:cNvPr id="23" name="Text 21"/>
          <p:cNvSpPr/>
          <p:nvPr/>
        </p:nvSpPr>
        <p:spPr>
          <a:xfrm>
            <a:off x="3703320" y="3840480"/>
            <a:ext cx="2011680" cy="749808"/>
          </a:xfrm>
          <a:prstGeom prst="rect">
            <a:avLst/>
          </a:prstGeom>
          <a:noFill/>
          <a:ln/>
        </p:spPr>
        <p:txBody>
          <a:bodyPr wrap="square" lIns="0" tIns="0" rIns="0" bIns="0" rtlCol="0" anchor="ctr"/>
          <a:lstStyle/>
          <a:p>
            <a:pPr indent="0" marL="0">
              <a:buNone/>
            </a:pPr>
            <a:r>
              <a:rPr lang="en-US" sz="1000" dirty="0">
                <a:solidFill>
                  <a:srgbClr val="1B2A4A"/>
                </a:solidFill>
                <a:latin typeface="Arial" pitchFamily="34" charset="0"/>
                <a:ea typeface="Arial" pitchFamily="34" charset="-122"/>
                <a:cs typeface="Arial" pitchFamily="34" charset="-120"/>
              </a:rPr>
              <a:t>Working in browser</a:t>
            </a:r>
            <a:endParaRPr lang="en-US" sz="1000" dirty="0"/>
          </a:p>
        </p:txBody>
      </p:sp>
      <p:sp>
        <p:nvSpPr>
          <p:cNvPr id="24" name="Shape 22"/>
          <p:cNvSpPr/>
          <p:nvPr/>
        </p:nvSpPr>
        <p:spPr>
          <a:xfrm>
            <a:off x="6035040" y="1691640"/>
            <a:ext cx="2606040" cy="4663440"/>
          </a:xfrm>
          <a:prstGeom prst="rect">
            <a:avLst>
              <a:gd name="adj" fmla="val 3509"/>
            </a:avLst>
          </a:prstGeom>
          <a:solidFill>
            <a:srgbClr val="E8EDF5"/>
          </a:solidFill>
          <a:ln w="25400">
            <a:solidFill>
              <a:srgbClr val="D4A017"/>
            </a:solidFill>
            <a:prstDash val="solid"/>
          </a:ln>
        </p:spPr>
      </p:sp>
      <p:sp>
        <p:nvSpPr>
          <p:cNvPr id="25" name="Shape 23"/>
          <p:cNvSpPr/>
          <p:nvPr/>
        </p:nvSpPr>
        <p:spPr>
          <a:xfrm>
            <a:off x="6035040" y="1691640"/>
            <a:ext cx="2606040" cy="502920"/>
          </a:xfrm>
          <a:prstGeom prst="rect">
            <a:avLst>
              <a:gd name="adj" fmla="val 10909"/>
            </a:avLst>
          </a:prstGeom>
          <a:solidFill>
            <a:srgbClr val="D4A017"/>
          </a:solidFill>
          <a:ln w="12700">
            <a:solidFill>
              <a:srgbClr val="D4A017"/>
            </a:solidFill>
            <a:prstDash val="solid"/>
          </a:ln>
        </p:spPr>
      </p:sp>
      <p:sp>
        <p:nvSpPr>
          <p:cNvPr id="26" name="Text 24"/>
          <p:cNvSpPr/>
          <p:nvPr/>
        </p:nvSpPr>
        <p:spPr>
          <a:xfrm>
            <a:off x="6035040" y="1691640"/>
            <a:ext cx="260604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WEEK 7-8</a:t>
            </a:r>
            <a:endParaRPr lang="en-US" sz="1100" dirty="0"/>
          </a:p>
        </p:txBody>
      </p:sp>
      <p:sp>
        <p:nvSpPr>
          <p:cNvPr id="27" name="Shape 25"/>
          <p:cNvSpPr/>
          <p:nvPr/>
        </p:nvSpPr>
        <p:spPr>
          <a:xfrm>
            <a:off x="6172200" y="2331720"/>
            <a:ext cx="274320" cy="274320"/>
          </a:xfrm>
          <a:prstGeom prst="rect">
            <a:avLst>
              <a:gd name="adj" fmla="val 13333"/>
            </a:avLst>
          </a:prstGeom>
          <a:solidFill>
            <a:srgbClr val="D4A017"/>
          </a:solidFill>
          <a:ln w="12700">
            <a:solidFill>
              <a:srgbClr val="D4A017"/>
            </a:solidFill>
            <a:prstDash val="solid"/>
          </a:ln>
        </p:spPr>
      </p:sp>
      <p:sp>
        <p:nvSpPr>
          <p:cNvPr id="28" name="Text 26"/>
          <p:cNvSpPr/>
          <p:nvPr/>
        </p:nvSpPr>
        <p:spPr>
          <a:xfrm>
            <a:off x="6537960" y="2286000"/>
            <a:ext cx="2011680" cy="749808"/>
          </a:xfrm>
          <a:prstGeom prst="rect">
            <a:avLst/>
          </a:prstGeom>
          <a:noFill/>
          <a:ln/>
        </p:spPr>
        <p:txBody>
          <a:bodyPr wrap="square" lIns="0" tIns="0" rIns="0" bIns="0" rtlCol="0" anchor="ctr"/>
          <a:lstStyle/>
          <a:p>
            <a:pPr indent="0" marL="0">
              <a:buNone/>
            </a:pPr>
            <a:r>
              <a:rPr lang="en-US" sz="1000" dirty="0">
                <a:solidFill>
                  <a:srgbClr val="1B2A4A"/>
                </a:solidFill>
                <a:latin typeface="Arial" pitchFamily="34" charset="0"/>
                <a:ea typeface="Arial" pitchFamily="34" charset="-122"/>
                <a:cs typeface="Arial" pitchFamily="34" charset="-120"/>
              </a:rPr>
              <a:t>20 beta users FREE</a:t>
            </a:r>
            <a:endParaRPr lang="en-US" sz="1000" dirty="0"/>
          </a:p>
        </p:txBody>
      </p:sp>
      <p:sp>
        <p:nvSpPr>
          <p:cNvPr id="29" name="Shape 27"/>
          <p:cNvSpPr/>
          <p:nvPr/>
        </p:nvSpPr>
        <p:spPr>
          <a:xfrm>
            <a:off x="6172200" y="3108960"/>
            <a:ext cx="274320" cy="274320"/>
          </a:xfrm>
          <a:prstGeom prst="rect">
            <a:avLst>
              <a:gd name="adj" fmla="val 13333"/>
            </a:avLst>
          </a:prstGeom>
          <a:solidFill>
            <a:srgbClr val="D4A017"/>
          </a:solidFill>
          <a:ln w="12700">
            <a:solidFill>
              <a:srgbClr val="D4A017"/>
            </a:solidFill>
            <a:prstDash val="solid"/>
          </a:ln>
        </p:spPr>
      </p:sp>
      <p:sp>
        <p:nvSpPr>
          <p:cNvPr id="30" name="Text 28"/>
          <p:cNvSpPr/>
          <p:nvPr/>
        </p:nvSpPr>
        <p:spPr>
          <a:xfrm>
            <a:off x="6537960" y="3063240"/>
            <a:ext cx="2011680" cy="749808"/>
          </a:xfrm>
          <a:prstGeom prst="rect">
            <a:avLst/>
          </a:prstGeom>
          <a:noFill/>
          <a:ln/>
        </p:spPr>
        <p:txBody>
          <a:bodyPr wrap="square" lIns="0" tIns="0" rIns="0" bIns="0" rtlCol="0" anchor="ctr"/>
          <a:lstStyle/>
          <a:p>
            <a:pPr indent="0" marL="0">
              <a:buNone/>
            </a:pPr>
            <a:r>
              <a:rPr lang="en-US" sz="1000" dirty="0">
                <a:solidFill>
                  <a:srgbClr val="1B2A4A"/>
                </a:solidFill>
                <a:latin typeface="Arial" pitchFamily="34" charset="0"/>
                <a:ea typeface="Arial" pitchFamily="34" charset="-122"/>
                <a:cs typeface="Arial" pitchFamily="34" charset="-120"/>
              </a:rPr>
              <a:t>Collect daily feedback</a:t>
            </a:r>
            <a:endParaRPr lang="en-US" sz="1000" dirty="0"/>
          </a:p>
        </p:txBody>
      </p:sp>
      <p:sp>
        <p:nvSpPr>
          <p:cNvPr id="31" name="Shape 29"/>
          <p:cNvSpPr/>
          <p:nvPr/>
        </p:nvSpPr>
        <p:spPr>
          <a:xfrm>
            <a:off x="6172200" y="3886200"/>
            <a:ext cx="274320" cy="274320"/>
          </a:xfrm>
          <a:prstGeom prst="rect">
            <a:avLst>
              <a:gd name="adj" fmla="val 13333"/>
            </a:avLst>
          </a:prstGeom>
          <a:solidFill>
            <a:srgbClr val="D4A017"/>
          </a:solidFill>
          <a:ln w="12700">
            <a:solidFill>
              <a:srgbClr val="D4A017"/>
            </a:solidFill>
            <a:prstDash val="solid"/>
          </a:ln>
        </p:spPr>
      </p:sp>
      <p:sp>
        <p:nvSpPr>
          <p:cNvPr id="32" name="Text 30"/>
          <p:cNvSpPr/>
          <p:nvPr/>
        </p:nvSpPr>
        <p:spPr>
          <a:xfrm>
            <a:off x="6537960" y="3840480"/>
            <a:ext cx="2011680" cy="749808"/>
          </a:xfrm>
          <a:prstGeom prst="rect">
            <a:avLst/>
          </a:prstGeom>
          <a:noFill/>
          <a:ln/>
        </p:spPr>
        <p:txBody>
          <a:bodyPr wrap="square" lIns="0" tIns="0" rIns="0" bIns="0" rtlCol="0" anchor="ctr"/>
          <a:lstStyle/>
          <a:p>
            <a:pPr indent="0" marL="0">
              <a:buNone/>
            </a:pPr>
            <a:r>
              <a:rPr lang="en-US" sz="1000" dirty="0">
                <a:solidFill>
                  <a:srgbClr val="1B2A4A"/>
                </a:solidFill>
                <a:latin typeface="Arial" pitchFamily="34" charset="0"/>
                <a:ea typeface="Arial" pitchFamily="34" charset="-122"/>
                <a:cs typeface="Arial" pitchFamily="34" charset="-120"/>
              </a:rPr>
              <a:t>Fix top 3 issues</a:t>
            </a:r>
            <a:endParaRPr lang="en-US" sz="1000" dirty="0"/>
          </a:p>
        </p:txBody>
      </p:sp>
      <p:sp>
        <p:nvSpPr>
          <p:cNvPr id="33" name="Shape 31"/>
          <p:cNvSpPr/>
          <p:nvPr/>
        </p:nvSpPr>
        <p:spPr>
          <a:xfrm>
            <a:off x="8869680" y="1691640"/>
            <a:ext cx="2606040" cy="4663440"/>
          </a:xfrm>
          <a:prstGeom prst="rect">
            <a:avLst>
              <a:gd name="adj" fmla="val 3509"/>
            </a:avLst>
          </a:prstGeom>
          <a:solidFill>
            <a:srgbClr val="E8EDF5"/>
          </a:solidFill>
          <a:ln w="25400">
            <a:solidFill>
              <a:srgbClr val="7C3AED"/>
            </a:solidFill>
            <a:prstDash val="solid"/>
          </a:ln>
        </p:spPr>
      </p:sp>
      <p:sp>
        <p:nvSpPr>
          <p:cNvPr id="34" name="Shape 32"/>
          <p:cNvSpPr/>
          <p:nvPr/>
        </p:nvSpPr>
        <p:spPr>
          <a:xfrm>
            <a:off x="8869680" y="1691640"/>
            <a:ext cx="2606040" cy="502920"/>
          </a:xfrm>
          <a:prstGeom prst="rect">
            <a:avLst>
              <a:gd name="adj" fmla="val 10909"/>
            </a:avLst>
          </a:prstGeom>
          <a:solidFill>
            <a:srgbClr val="7C3AED"/>
          </a:solidFill>
          <a:ln w="12700">
            <a:solidFill>
              <a:srgbClr val="7C3AED"/>
            </a:solidFill>
            <a:prstDash val="solid"/>
          </a:ln>
        </p:spPr>
      </p:sp>
      <p:sp>
        <p:nvSpPr>
          <p:cNvPr id="35" name="Text 33"/>
          <p:cNvSpPr/>
          <p:nvPr/>
        </p:nvSpPr>
        <p:spPr>
          <a:xfrm>
            <a:off x="8869680" y="1691640"/>
            <a:ext cx="260604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WEEK 9-12</a:t>
            </a:r>
            <a:endParaRPr lang="en-US" sz="1100" dirty="0"/>
          </a:p>
        </p:txBody>
      </p:sp>
      <p:sp>
        <p:nvSpPr>
          <p:cNvPr id="36" name="Shape 34"/>
          <p:cNvSpPr/>
          <p:nvPr/>
        </p:nvSpPr>
        <p:spPr>
          <a:xfrm>
            <a:off x="9006840" y="2331720"/>
            <a:ext cx="274320" cy="274320"/>
          </a:xfrm>
          <a:prstGeom prst="rect">
            <a:avLst>
              <a:gd name="adj" fmla="val 13333"/>
            </a:avLst>
          </a:prstGeom>
          <a:solidFill>
            <a:srgbClr val="7C3AED"/>
          </a:solidFill>
          <a:ln w="12700">
            <a:solidFill>
              <a:srgbClr val="7C3AED"/>
            </a:solidFill>
            <a:prstDash val="solid"/>
          </a:ln>
        </p:spPr>
      </p:sp>
      <p:sp>
        <p:nvSpPr>
          <p:cNvPr id="37" name="Text 35"/>
          <p:cNvSpPr/>
          <p:nvPr/>
        </p:nvSpPr>
        <p:spPr>
          <a:xfrm>
            <a:off x="9372600" y="2286000"/>
            <a:ext cx="2011680" cy="749808"/>
          </a:xfrm>
          <a:prstGeom prst="rect">
            <a:avLst/>
          </a:prstGeom>
          <a:noFill/>
          <a:ln/>
        </p:spPr>
        <p:txBody>
          <a:bodyPr wrap="square" lIns="0" tIns="0" rIns="0" bIns="0" rtlCol="0" anchor="ctr"/>
          <a:lstStyle/>
          <a:p>
            <a:pPr indent="0" marL="0">
              <a:buNone/>
            </a:pPr>
            <a:r>
              <a:rPr lang="en-US" sz="1000" dirty="0">
                <a:solidFill>
                  <a:srgbClr val="1B2A4A"/>
                </a:solidFill>
                <a:latin typeface="Arial" pitchFamily="34" charset="0"/>
                <a:ea typeface="Arial" pitchFamily="34" charset="-122"/>
                <a:cs typeface="Arial" pitchFamily="34" charset="-120"/>
              </a:rPr>
              <a:t>Add PayFast billing</a:t>
            </a:r>
            <a:endParaRPr lang="en-US" sz="1000" dirty="0"/>
          </a:p>
        </p:txBody>
      </p:sp>
      <p:sp>
        <p:nvSpPr>
          <p:cNvPr id="38" name="Shape 36"/>
          <p:cNvSpPr/>
          <p:nvPr/>
        </p:nvSpPr>
        <p:spPr>
          <a:xfrm>
            <a:off x="9006840" y="3108960"/>
            <a:ext cx="274320" cy="274320"/>
          </a:xfrm>
          <a:prstGeom prst="rect">
            <a:avLst>
              <a:gd name="adj" fmla="val 13333"/>
            </a:avLst>
          </a:prstGeom>
          <a:solidFill>
            <a:srgbClr val="7C3AED"/>
          </a:solidFill>
          <a:ln w="12700">
            <a:solidFill>
              <a:srgbClr val="7C3AED"/>
            </a:solidFill>
            <a:prstDash val="solid"/>
          </a:ln>
        </p:spPr>
      </p:sp>
      <p:sp>
        <p:nvSpPr>
          <p:cNvPr id="39" name="Text 37"/>
          <p:cNvSpPr/>
          <p:nvPr/>
        </p:nvSpPr>
        <p:spPr>
          <a:xfrm>
            <a:off x="9372600" y="3063240"/>
            <a:ext cx="2011680" cy="749808"/>
          </a:xfrm>
          <a:prstGeom prst="rect">
            <a:avLst/>
          </a:prstGeom>
          <a:noFill/>
          <a:ln/>
        </p:spPr>
        <p:txBody>
          <a:bodyPr wrap="square" lIns="0" tIns="0" rIns="0" bIns="0" rtlCol="0" anchor="ctr"/>
          <a:lstStyle/>
          <a:p>
            <a:pPr indent="0" marL="0">
              <a:buNone/>
            </a:pPr>
            <a:r>
              <a:rPr lang="en-US" sz="1000" dirty="0">
                <a:solidFill>
                  <a:srgbClr val="1B2A4A"/>
                </a:solidFill>
                <a:latin typeface="Arial" pitchFamily="34" charset="0"/>
                <a:ea typeface="Arial" pitchFamily="34" charset="-122"/>
                <a:cs typeface="Arial" pitchFamily="34" charset="-120"/>
              </a:rPr>
              <a:t>First 30 paying users</a:t>
            </a:r>
            <a:endParaRPr lang="en-US" sz="1000" dirty="0"/>
          </a:p>
        </p:txBody>
      </p:sp>
      <p:sp>
        <p:nvSpPr>
          <p:cNvPr id="40" name="Shape 38"/>
          <p:cNvSpPr/>
          <p:nvPr/>
        </p:nvSpPr>
        <p:spPr>
          <a:xfrm>
            <a:off x="9006840" y="3886200"/>
            <a:ext cx="274320" cy="274320"/>
          </a:xfrm>
          <a:prstGeom prst="rect">
            <a:avLst>
              <a:gd name="adj" fmla="val 13333"/>
            </a:avLst>
          </a:prstGeom>
          <a:solidFill>
            <a:srgbClr val="7C3AED"/>
          </a:solidFill>
          <a:ln w="12700">
            <a:solidFill>
              <a:srgbClr val="7C3AED"/>
            </a:solidFill>
            <a:prstDash val="solid"/>
          </a:ln>
        </p:spPr>
      </p:sp>
      <p:sp>
        <p:nvSpPr>
          <p:cNvPr id="41" name="Text 39"/>
          <p:cNvSpPr/>
          <p:nvPr/>
        </p:nvSpPr>
        <p:spPr>
          <a:xfrm>
            <a:off x="9372600" y="3840480"/>
            <a:ext cx="2011680" cy="749808"/>
          </a:xfrm>
          <a:prstGeom prst="rect">
            <a:avLst/>
          </a:prstGeom>
          <a:noFill/>
          <a:ln/>
        </p:spPr>
        <p:txBody>
          <a:bodyPr wrap="square" lIns="0" tIns="0" rIns="0" bIns="0" rtlCol="0" anchor="ctr"/>
          <a:lstStyle/>
          <a:p>
            <a:pPr indent="0" marL="0">
              <a:buNone/>
            </a:pPr>
            <a:r>
              <a:rPr lang="en-US" sz="1000" dirty="0">
                <a:solidFill>
                  <a:srgbClr val="1B2A4A"/>
                </a:solidFill>
                <a:latin typeface="Arial" pitchFamily="34" charset="0"/>
                <a:ea typeface="Arial" pitchFamily="34" charset="-122"/>
                <a:cs typeface="Arial" pitchFamily="34" charset="-120"/>
              </a:rPr>
              <a:t>R9,000 MRR from 1 product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D4A017"/>
          </a:solidFill>
          <a:ln w="12700">
            <a:solidFill>
              <a:srgbClr val="D4A017"/>
            </a:solidFill>
            <a:prstDash val="solid"/>
          </a:ln>
        </p:spPr>
      </p:sp>
      <p:sp>
        <p:nvSpPr>
          <p:cNvPr id="3" name="Text 1"/>
          <p:cNvSpPr/>
          <p:nvPr/>
        </p:nvSpPr>
        <p:spPr>
          <a:xfrm>
            <a:off x="457200" y="548640"/>
            <a:ext cx="10972800" cy="457200"/>
          </a:xfrm>
          <a:prstGeom prst="rect">
            <a:avLst/>
          </a:prstGeom>
          <a:noFill/>
          <a:ln/>
        </p:spPr>
        <p:txBody>
          <a:bodyPr wrap="square" lIns="0" tIns="0" rIns="0" bIns="0" rtlCol="0" anchor="ctr"/>
          <a:lstStyle/>
          <a:p>
            <a:pPr indent="0" marL="0">
              <a:buNone/>
            </a:pPr>
            <a:r>
              <a:rPr lang="en-US" sz="1200" b="1" spc="500" kern="0" dirty="0">
                <a:solidFill>
                  <a:srgbClr val="D4A017"/>
                </a:solidFill>
                <a:latin typeface="Arial" pitchFamily="34" charset="0"/>
                <a:ea typeface="Arial" pitchFamily="34" charset="-122"/>
                <a:cs typeface="Arial" pitchFamily="34" charset="-120"/>
              </a:rPr>
              <a:t>WHY NOW?</a:t>
            </a:r>
            <a:endParaRPr lang="en-US" sz="1200" dirty="0"/>
          </a:p>
        </p:txBody>
      </p:sp>
      <p:sp>
        <p:nvSpPr>
          <p:cNvPr id="4" name="Text 2"/>
          <p:cNvSpPr/>
          <p:nvPr/>
        </p:nvSpPr>
        <p:spPr>
          <a:xfrm>
            <a:off x="457200" y="1188720"/>
            <a:ext cx="10972800" cy="228600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Lovable.dev, Replit Agent, and Cursor have reduced software development time by 70–80% for non-developers. The window to build niche SA SaaS products before the market gets crowded is right now — 2025 to 2027.</a:t>
            </a:r>
            <a:endParaRPr lang="en-US" sz="2600" dirty="0"/>
          </a:p>
        </p:txBody>
      </p:sp>
      <p:sp>
        <p:nvSpPr>
          <p:cNvPr id="5" name="Shape 3"/>
          <p:cNvSpPr/>
          <p:nvPr/>
        </p:nvSpPr>
        <p:spPr>
          <a:xfrm>
            <a:off x="457200" y="3657600"/>
            <a:ext cx="8229600" cy="36576"/>
          </a:xfrm>
          <a:prstGeom prst="rect">
            <a:avLst/>
          </a:prstGeom>
          <a:solidFill>
            <a:srgbClr val="D4A017"/>
          </a:solidFill>
          <a:ln w="12700">
            <a:solidFill>
              <a:srgbClr val="D4A017"/>
            </a:solidFill>
            <a:prstDash val="solid"/>
          </a:ln>
        </p:spPr>
      </p:sp>
      <p:sp>
        <p:nvSpPr>
          <p:cNvPr id="6" name="Text 4"/>
          <p:cNvSpPr/>
          <p:nvPr/>
        </p:nvSpPr>
        <p:spPr>
          <a:xfrm>
            <a:off x="457200" y="3931920"/>
            <a:ext cx="10972800" cy="640080"/>
          </a:xfrm>
          <a:prstGeom prst="rect">
            <a:avLst/>
          </a:prstGeom>
          <a:noFill/>
          <a:ln/>
        </p:spPr>
        <p:txBody>
          <a:bodyPr wrap="square" lIns="0" tIns="0" rIns="0" bIns="0" rtlCol="0" anchor="ctr"/>
          <a:lstStyle/>
          <a:p>
            <a:pPr indent="0" marL="0">
              <a:buNone/>
            </a:pPr>
            <a:r>
              <a:rPr lang="en-US" sz="2000" b="1" dirty="0">
                <a:solidFill>
                  <a:srgbClr val="D4A017"/>
                </a:solidFill>
                <a:latin typeface="Arial" pitchFamily="34" charset="0"/>
                <a:ea typeface="Arial" pitchFamily="34" charset="-122"/>
                <a:cs typeface="Arial" pitchFamily="34" charset="-120"/>
              </a:rPr>
              <a:t>Build the first micro-monopoly. Own it forever. Then build the next one.</a:t>
            </a:r>
            <a:endParaRPr lang="en-US" sz="2000" dirty="0"/>
          </a:p>
        </p:txBody>
      </p:sp>
      <p:sp>
        <p:nvSpPr>
          <p:cNvPr id="7" name="Text 5"/>
          <p:cNvSpPr/>
          <p:nvPr/>
        </p:nvSpPr>
        <p:spPr>
          <a:xfrm>
            <a:off x="457200" y="5029200"/>
            <a:ext cx="10972800" cy="365760"/>
          </a:xfrm>
          <a:prstGeom prst="rect">
            <a:avLst/>
          </a:prstGeom>
          <a:noFill/>
          <a:ln/>
        </p:spPr>
        <p:txBody>
          <a:bodyPr wrap="square" lIns="0" tIns="0" rIns="0" bIns="0" rtlCol="0" anchor="ctr"/>
          <a:lstStyle/>
          <a:p>
            <a:pPr indent="0" marL="0">
              <a:buNone/>
            </a:pPr>
            <a:r>
              <a:rPr lang="en-US" sz="1100" dirty="0">
                <a:solidFill>
                  <a:srgbClr val="8090A0"/>
                </a:solidFill>
                <a:latin typeface="Arial" pitchFamily="34" charset="0"/>
                <a:ea typeface="Arial" pitchFamily="34" charset="-122"/>
                <a:cs typeface="Arial" pitchFamily="34" charset="-120"/>
              </a:rPr>
              <a:t>Hermie Ihmig  |  hermie@levinn.co.za  |  +27 XX XXX XXXX  |  levinn.co.za</a:t>
            </a:r>
            <a:endParaRPr lang="en-US" sz="1100" dirty="0"/>
          </a:p>
        </p:txBody>
      </p:sp>
      <p:sp>
        <p:nvSpPr>
          <p:cNvPr id="8" name="Text 6"/>
          <p:cNvSpPr/>
          <p:nvPr/>
        </p:nvSpPr>
        <p:spPr>
          <a:xfrm>
            <a:off x="457200" y="5760720"/>
            <a:ext cx="10972800" cy="457200"/>
          </a:xfrm>
          <a:prstGeom prst="rect">
            <a:avLst/>
          </a:prstGeom>
          <a:noFill/>
          <a:ln/>
        </p:spPr>
        <p:txBody>
          <a:bodyPr wrap="square" lIns="0" tIns="0" rIns="0" bIns="0" rtlCol="0" anchor="ctr"/>
          <a:lstStyle/>
          <a:p>
            <a:pPr indent="0" marL="0">
              <a:buNone/>
            </a:pPr>
            <a:r>
              <a:rPr lang="en-US" sz="1300" i="1" dirty="0">
                <a:solidFill>
                  <a:srgbClr val="AA8833"/>
                </a:solidFill>
                <a:latin typeface="Arial" pitchFamily="34" charset="0"/>
                <a:ea typeface="Arial" pitchFamily="34" charset="-122"/>
                <a:cs typeface="Arial" pitchFamily="34" charset="-120"/>
              </a:rPr>
              <a:t>"The plans of the diligent lead to profit." — Proverbs 21:5</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Micro-Monopoly Builder</dc:title>
  <dc:subject>PptxGenJS Presentation</dc:subject>
  <dc:creator>Hermie Ihmig | Levinn Group</dc:creator>
  <cp:lastModifiedBy>Hermie Ihmig | Levinn Group</cp:lastModifiedBy>
  <cp:revision>1</cp:revision>
  <dcterms:created xsi:type="dcterms:W3CDTF">2026-04-07T10:43:05Z</dcterms:created>
  <dcterms:modified xsi:type="dcterms:W3CDTF">2026-04-07T10:43:05Z</dcterms:modified>
</cp:coreProperties>
</file>