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017"/>
          </a:solidFill>
          <a:ln w="12700">
            <a:solidFill>
              <a:srgbClr val="D4A017"/>
            </a:solidFill>
            <a:prstDash val="solid"/>
          </a:ln>
        </p:spPr>
      </p:sp>
      <p:sp>
        <p:nvSpPr>
          <p:cNvPr id="3" name="Text 1"/>
          <p:cNvSpPr/>
          <p:nvPr/>
        </p:nvSpPr>
        <p:spPr>
          <a:xfrm>
            <a:off x="457200" y="1097280"/>
            <a:ext cx="11247120" cy="457200"/>
          </a:xfrm>
          <a:prstGeom prst="rect">
            <a:avLst/>
          </a:prstGeom>
          <a:noFill/>
          <a:ln/>
        </p:spPr>
        <p:txBody>
          <a:bodyPr wrap="square" lIns="0" tIns="0" rIns="0" bIns="0" rtlCol="0" anchor="ctr"/>
          <a:lstStyle/>
          <a:p>
            <a:pPr indent="0" marL="0">
              <a:buNone/>
            </a:pPr>
            <a:r>
              <a:rPr lang="en-US" sz="1400" b="1" spc="500" kern="0" dirty="0">
                <a:solidFill>
                  <a:srgbClr val="D4A017"/>
                </a:solidFill>
                <a:latin typeface="Arial" pitchFamily="34" charset="0"/>
                <a:ea typeface="Arial" pitchFamily="34" charset="-122"/>
                <a:cs typeface="Arial" pitchFamily="34" charset="-120"/>
              </a:rPr>
              <a:t>IDEA #5</a:t>
            </a:r>
            <a:endParaRPr lang="en-US" sz="1400" dirty="0"/>
          </a:p>
        </p:txBody>
      </p:sp>
      <p:sp>
        <p:nvSpPr>
          <p:cNvPr id="4" name="Text 2"/>
          <p:cNvSpPr/>
          <p:nvPr/>
        </p:nvSpPr>
        <p:spPr>
          <a:xfrm>
            <a:off x="457200" y="1645920"/>
            <a:ext cx="11247120" cy="20116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Outcome-Based AI Service</a:t>
            </a:r>
            <a:endParaRPr lang="en-US" sz="4400" dirty="0"/>
          </a:p>
        </p:txBody>
      </p:sp>
      <p:sp>
        <p:nvSpPr>
          <p:cNvPr id="5" name="Shape 3"/>
          <p:cNvSpPr/>
          <p:nvPr/>
        </p:nvSpPr>
        <p:spPr>
          <a:xfrm>
            <a:off x="457200" y="3749040"/>
            <a:ext cx="3657600" cy="45720"/>
          </a:xfrm>
          <a:prstGeom prst="rect">
            <a:avLst/>
          </a:prstGeom>
          <a:solidFill>
            <a:srgbClr val="D4A017"/>
          </a:solidFill>
          <a:ln w="12700">
            <a:solidFill>
              <a:srgbClr val="D4A017"/>
            </a:solidFill>
            <a:prstDash val="solid"/>
          </a:ln>
        </p:spPr>
      </p:sp>
      <p:sp>
        <p:nvSpPr>
          <p:cNvPr id="6" name="Text 4"/>
          <p:cNvSpPr/>
          <p:nvPr/>
        </p:nvSpPr>
        <p:spPr>
          <a:xfrm>
            <a:off x="457200" y="3931920"/>
            <a:ext cx="11247120" cy="640080"/>
          </a:xfrm>
          <a:prstGeom prst="rect">
            <a:avLst/>
          </a:prstGeom>
          <a:noFill/>
          <a:ln/>
        </p:spPr>
        <p:txBody>
          <a:bodyPr wrap="square" lIns="0" tIns="0" rIns="0" bIns="0" rtlCol="0" anchor="ctr"/>
          <a:lstStyle/>
          <a:p>
            <a:pPr indent="0" marL="0">
              <a:buNone/>
            </a:pPr>
            <a:r>
              <a:rPr lang="en-US" sz="1800" i="1" dirty="0">
                <a:solidFill>
                  <a:srgbClr val="BBCCDD"/>
                </a:solidFill>
                <a:latin typeface="Arial" pitchFamily="34" charset="0"/>
                <a:ea typeface="Arial" pitchFamily="34" charset="-122"/>
                <a:cs typeface="Arial" pitchFamily="34" charset="-120"/>
              </a:rPr>
              <a:t>SA businesses pay only for results — you use AI to deliver at 10x the speed</a:t>
            </a:r>
            <a:endParaRPr lang="en-US" sz="1800" dirty="0"/>
          </a:p>
        </p:txBody>
      </p:sp>
      <p:sp>
        <p:nvSpPr>
          <p:cNvPr id="7" name="Text 5"/>
          <p:cNvSpPr/>
          <p:nvPr/>
        </p:nvSpPr>
        <p:spPr>
          <a:xfrm>
            <a:off x="457200" y="4754880"/>
            <a:ext cx="4572000" cy="365760"/>
          </a:xfrm>
          <a:prstGeom prst="rect">
            <a:avLst/>
          </a:prstGeom>
          <a:noFill/>
          <a:ln/>
        </p:spPr>
        <p:txBody>
          <a:bodyPr wrap="square" lIns="0" tIns="0" rIns="0" bIns="0" rtlCol="0" anchor="ctr"/>
          <a:lstStyle/>
          <a:p>
            <a:pPr indent="0" marL="0">
              <a:buNone/>
            </a:pPr>
            <a:r>
              <a:rPr lang="en-US" sz="1200" dirty="0">
                <a:solidFill>
                  <a:srgbClr val="D4A017"/>
                </a:solidFill>
                <a:latin typeface="Arial" pitchFamily="34" charset="0"/>
                <a:ea typeface="Arial" pitchFamily="34" charset="-122"/>
                <a:cs typeface="Arial" pitchFamily="34" charset="-120"/>
              </a:rPr>
              <a:t>PHASE 1 — MAKE MONEY NOW (0-6 months)</a:t>
            </a:r>
            <a:endParaRPr lang="en-US" sz="1200" dirty="0"/>
          </a:p>
        </p:txBody>
      </p:sp>
      <p:sp>
        <p:nvSpPr>
          <p:cNvPr id="8" name="Text 6"/>
          <p:cNvSpPr/>
          <p:nvPr/>
        </p:nvSpPr>
        <p:spPr>
          <a:xfrm>
            <a:off x="457200" y="6217920"/>
            <a:ext cx="11247120" cy="365760"/>
          </a:xfrm>
          <a:prstGeom prst="rect">
            <a:avLst/>
          </a:prstGeom>
          <a:noFill/>
          <a:ln/>
        </p:spPr>
        <p:txBody>
          <a:bodyPr wrap="square" lIns="0" tIns="0" rIns="0" bIns="0" rtlCol="0" anchor="ctr"/>
          <a:lstStyle/>
          <a:p>
            <a:pPr indent="0" marL="0">
              <a:buNone/>
            </a:pPr>
            <a:r>
              <a:rPr lang="en-US" sz="1000" spc="200" kern="0" dirty="0">
                <a:solidFill>
                  <a:srgbClr val="8090A0"/>
                </a:solidFill>
                <a:latin typeface="Arial" pitchFamily="34" charset="0"/>
                <a:ea typeface="Arial" pitchFamily="34" charset="-122"/>
                <a:cs typeface="Arial" pitchFamily="34" charset="-120"/>
              </a:rPr>
              <a:t>HERMIE IHMIG  |  LEVINN GROUP  |  JOHANNESBURG, SA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10972800" cy="548640"/>
          </a:xfrm>
          <a:prstGeom prst="rect">
            <a:avLst/>
          </a:prstGeom>
          <a:noFill/>
          <a:ln/>
        </p:spPr>
        <p:txBody>
          <a:bodyPr wrap="square" lIns="0" tIns="0" rIns="0" bIns="0" rtlCol="0" anchor="ctr"/>
          <a:lstStyle/>
          <a:p>
            <a:pPr indent="0" marL="0">
              <a:buNone/>
            </a:pPr>
            <a:r>
              <a:rPr lang="en-US" sz="1200" b="1" spc="400" kern="0" dirty="0">
                <a:solidFill>
                  <a:srgbClr val="D4A017"/>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457200" y="1005840"/>
            <a:ext cx="10972800" cy="10972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Agencies charge for time. Clients want results. Nobody is bridging the gap.</a:t>
            </a:r>
            <a:endParaRPr lang="en-US" sz="3200" dirty="0"/>
          </a:p>
        </p:txBody>
      </p:sp>
      <p:sp>
        <p:nvSpPr>
          <p:cNvPr id="4" name="Shape 2"/>
          <p:cNvSpPr/>
          <p:nvPr/>
        </p:nvSpPr>
        <p:spPr>
          <a:xfrm>
            <a:off x="457200" y="2194560"/>
            <a:ext cx="8229600" cy="36576"/>
          </a:xfrm>
          <a:prstGeom prst="rect">
            <a:avLst/>
          </a:prstGeom>
          <a:solidFill>
            <a:srgbClr val="D4A017"/>
          </a:solidFill>
          <a:ln w="12700">
            <a:solidFill>
              <a:srgbClr val="D4A017"/>
            </a:solidFill>
            <a:prstDash val="solid"/>
          </a:ln>
        </p:spPr>
      </p:sp>
      <p:sp>
        <p:nvSpPr>
          <p:cNvPr id="5" name="Shape 3"/>
          <p:cNvSpPr/>
          <p:nvPr/>
        </p:nvSpPr>
        <p:spPr>
          <a:xfrm>
            <a:off x="457200" y="2468880"/>
            <a:ext cx="2651760" cy="1645920"/>
          </a:xfrm>
          <a:prstGeom prst="rect">
            <a:avLst>
              <a:gd name="adj" fmla="val 4444"/>
            </a:avLst>
          </a:prstGeom>
          <a:solidFill>
            <a:srgbClr val="1A56A0"/>
          </a:solidFill>
          <a:ln w="12700">
            <a:solidFill>
              <a:srgbClr val="1A56A0"/>
            </a:solidFill>
            <a:prstDash val="solid"/>
          </a:ln>
        </p:spPr>
      </p:sp>
      <p:sp>
        <p:nvSpPr>
          <p:cNvPr id="6" name="Text 4"/>
          <p:cNvSpPr/>
          <p:nvPr/>
        </p:nvSpPr>
        <p:spPr>
          <a:xfrm>
            <a:off x="457200" y="2578608"/>
            <a:ext cx="2651760" cy="905256"/>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R18B</a:t>
            </a:r>
            <a:endParaRPr lang="en-US" sz="2800" dirty="0"/>
          </a:p>
        </p:txBody>
      </p:sp>
      <p:sp>
        <p:nvSpPr>
          <p:cNvPr id="7" name="Text 5"/>
          <p:cNvSpPr/>
          <p:nvPr/>
        </p:nvSpPr>
        <p:spPr>
          <a:xfrm>
            <a:off x="457200" y="3423514"/>
            <a:ext cx="2651760" cy="625450"/>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SA SME outsourcing spend</a:t>
            </a:r>
            <a:endParaRPr lang="en-US" sz="1000" dirty="0"/>
          </a:p>
        </p:txBody>
      </p:sp>
      <p:sp>
        <p:nvSpPr>
          <p:cNvPr id="8" name="Shape 6"/>
          <p:cNvSpPr/>
          <p:nvPr/>
        </p:nvSpPr>
        <p:spPr>
          <a:xfrm>
            <a:off x="3383280" y="2468880"/>
            <a:ext cx="2651760" cy="1645920"/>
          </a:xfrm>
          <a:prstGeom prst="rect">
            <a:avLst>
              <a:gd name="adj" fmla="val 4444"/>
            </a:avLst>
          </a:prstGeom>
          <a:solidFill>
            <a:srgbClr val="1A56A0"/>
          </a:solidFill>
          <a:ln w="12700">
            <a:solidFill>
              <a:srgbClr val="1A56A0"/>
            </a:solidFill>
            <a:prstDash val="solid"/>
          </a:ln>
        </p:spPr>
      </p:sp>
      <p:sp>
        <p:nvSpPr>
          <p:cNvPr id="9" name="Text 7"/>
          <p:cNvSpPr/>
          <p:nvPr/>
        </p:nvSpPr>
        <p:spPr>
          <a:xfrm>
            <a:off x="3383280" y="2578608"/>
            <a:ext cx="2651760" cy="905256"/>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80%</a:t>
            </a:r>
            <a:endParaRPr lang="en-US" sz="2800" dirty="0"/>
          </a:p>
        </p:txBody>
      </p:sp>
      <p:sp>
        <p:nvSpPr>
          <p:cNvPr id="10" name="Text 8"/>
          <p:cNvSpPr/>
          <p:nvPr/>
        </p:nvSpPr>
        <p:spPr>
          <a:xfrm>
            <a:off x="3383280" y="3423514"/>
            <a:ext cx="2651760" cy="625450"/>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AI margin on service delivery</a:t>
            </a:r>
            <a:endParaRPr lang="en-US" sz="1000" dirty="0"/>
          </a:p>
        </p:txBody>
      </p:sp>
      <p:sp>
        <p:nvSpPr>
          <p:cNvPr id="11" name="Shape 9"/>
          <p:cNvSpPr/>
          <p:nvPr/>
        </p:nvSpPr>
        <p:spPr>
          <a:xfrm>
            <a:off x="6309360" y="2468880"/>
            <a:ext cx="2651760" cy="1645920"/>
          </a:xfrm>
          <a:prstGeom prst="rect">
            <a:avLst>
              <a:gd name="adj" fmla="val 4444"/>
            </a:avLst>
          </a:prstGeom>
          <a:solidFill>
            <a:srgbClr val="1A56A0"/>
          </a:solidFill>
          <a:ln w="12700">
            <a:solidFill>
              <a:srgbClr val="1A56A0"/>
            </a:solidFill>
            <a:prstDash val="solid"/>
          </a:ln>
        </p:spPr>
      </p:sp>
      <p:sp>
        <p:nvSpPr>
          <p:cNvPr id="12" name="Text 10"/>
          <p:cNvSpPr/>
          <p:nvPr/>
        </p:nvSpPr>
        <p:spPr>
          <a:xfrm>
            <a:off x="6309360" y="2578608"/>
            <a:ext cx="2651760" cy="905256"/>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0 Risk</a:t>
            </a:r>
            <a:endParaRPr lang="en-US" sz="2800" dirty="0"/>
          </a:p>
        </p:txBody>
      </p:sp>
      <p:sp>
        <p:nvSpPr>
          <p:cNvPr id="13" name="Text 11"/>
          <p:cNvSpPr/>
          <p:nvPr/>
        </p:nvSpPr>
        <p:spPr>
          <a:xfrm>
            <a:off x="6309360" y="3423514"/>
            <a:ext cx="2651760" cy="625450"/>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For clients — pay per outcome</a:t>
            </a:r>
            <a:endParaRPr lang="en-US" sz="1000" dirty="0"/>
          </a:p>
        </p:txBody>
      </p:sp>
      <p:sp>
        <p:nvSpPr>
          <p:cNvPr id="14" name="Shape 12"/>
          <p:cNvSpPr/>
          <p:nvPr/>
        </p:nvSpPr>
        <p:spPr>
          <a:xfrm>
            <a:off x="9235440" y="2468880"/>
            <a:ext cx="2651760" cy="1645920"/>
          </a:xfrm>
          <a:prstGeom prst="rect">
            <a:avLst>
              <a:gd name="adj" fmla="val 4444"/>
            </a:avLst>
          </a:prstGeom>
          <a:solidFill>
            <a:srgbClr val="1A56A0"/>
          </a:solidFill>
          <a:ln w="12700">
            <a:solidFill>
              <a:srgbClr val="1A56A0"/>
            </a:solidFill>
            <a:prstDash val="solid"/>
          </a:ln>
        </p:spPr>
      </p:sp>
      <p:sp>
        <p:nvSpPr>
          <p:cNvPr id="15" name="Text 13"/>
          <p:cNvSpPr/>
          <p:nvPr/>
        </p:nvSpPr>
        <p:spPr>
          <a:xfrm>
            <a:off x="9235440" y="2578608"/>
            <a:ext cx="2651760" cy="905256"/>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10x</a:t>
            </a:r>
            <a:endParaRPr lang="en-US" sz="2800" dirty="0"/>
          </a:p>
        </p:txBody>
      </p:sp>
      <p:sp>
        <p:nvSpPr>
          <p:cNvPr id="16" name="Text 14"/>
          <p:cNvSpPr/>
          <p:nvPr/>
        </p:nvSpPr>
        <p:spPr>
          <a:xfrm>
            <a:off x="9235440" y="3423514"/>
            <a:ext cx="2651760" cy="625450"/>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AI speed vs. human delivery</a:t>
            </a:r>
            <a:endParaRPr lang="en-US" sz="1000" dirty="0"/>
          </a:p>
        </p:txBody>
      </p:sp>
      <p:sp>
        <p:nvSpPr>
          <p:cNvPr id="17" name="Text 15"/>
          <p:cNvSpPr/>
          <p:nvPr/>
        </p:nvSpPr>
        <p:spPr>
          <a:xfrm>
            <a:off x="457200" y="4297680"/>
            <a:ext cx="10972800" cy="2011680"/>
          </a:xfrm>
          <a:prstGeom prst="rect">
            <a:avLst/>
          </a:prstGeom>
          <a:noFill/>
          <a:ln/>
        </p:spPr>
        <p:txBody>
          <a:bodyPr wrap="square" lIns="0" tIns="0" rIns="0" bIns="0" rtlCol="0" anchor="ctr"/>
          <a:lstStyle/>
          <a:p>
            <a:pPr indent="0" marL="0">
              <a:buNone/>
            </a:pPr>
            <a:r>
              <a:rPr lang="en-US" sz="1400" dirty="0">
                <a:solidFill>
                  <a:srgbClr val="BBCCDD"/>
                </a:solidFill>
                <a:latin typeface="Arial" pitchFamily="34" charset="0"/>
                <a:ea typeface="Arial" pitchFamily="34" charset="-122"/>
                <a:cs typeface="Arial" pitchFamily="34" charset="-120"/>
              </a:rPr>
              <a:t>Clients are tired of paying retainers and getting excuses. Performance pricing removes the barrier to entry entirely — and with AI delivering outcomes at 10x speed, your margin is extraordinary.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182880"/>
            <a:ext cx="9144000" cy="411480"/>
          </a:xfrm>
          <a:prstGeom prst="rect">
            <a:avLst/>
          </a:prstGeom>
          <a:solidFill>
            <a:srgbClr val="1B2A4A"/>
          </a:solidFill>
          <a:ln w="12700">
            <a:solidFill>
              <a:srgbClr val="1B2A4A"/>
            </a:solidFill>
            <a:prstDash val="solid"/>
          </a:ln>
        </p:spPr>
      </p:sp>
      <p:sp>
        <p:nvSpPr>
          <p:cNvPr id="3" name="Text 1"/>
          <p:cNvSpPr/>
          <p:nvPr/>
        </p:nvSpPr>
        <p:spPr>
          <a:xfrm>
            <a:off x="274320" y="237744"/>
            <a:ext cx="8229600" cy="292608"/>
          </a:xfrm>
          <a:prstGeom prst="rect">
            <a:avLst/>
          </a:prstGeom>
          <a:noFill/>
          <a:ln/>
        </p:spPr>
        <p:txBody>
          <a:bodyPr wrap="square" lIns="0" tIns="0" rIns="0" bIns="0"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THE SOLUTION</a:t>
            </a:r>
            <a:endParaRPr lang="en-US" sz="1100" dirty="0"/>
          </a:p>
        </p:txBody>
      </p:sp>
      <p:sp>
        <p:nvSpPr>
          <p:cNvPr id="4" name="Text 2"/>
          <p:cNvSpPr/>
          <p:nvPr/>
        </p:nvSpPr>
        <p:spPr>
          <a:xfrm>
            <a:off x="457200" y="777240"/>
            <a:ext cx="10972800" cy="822960"/>
          </a:xfrm>
          <a:prstGeom prst="rect">
            <a:avLst/>
          </a:prstGeom>
          <a:noFill/>
          <a:ln/>
        </p:spPr>
        <p:txBody>
          <a:bodyPr wrap="square" lIns="0" tIns="0" rIns="0" bIns="0" rtlCol="0" anchor="ctr"/>
          <a:lstStyle/>
          <a:p>
            <a:pPr indent="0" marL="0">
              <a:buNone/>
            </a:pPr>
            <a:r>
              <a:rPr lang="en-US" sz="2800" b="1" dirty="0">
                <a:solidFill>
                  <a:srgbClr val="1B2A4A"/>
                </a:solidFill>
                <a:latin typeface="Arial" pitchFamily="34" charset="0"/>
                <a:ea typeface="Arial" pitchFamily="34" charset="-122"/>
                <a:cs typeface="Arial" pitchFamily="34" charset="-120"/>
              </a:rPr>
              <a:t>You define the outcome, agree the price, deploy AI to deliver — and pocket the margin</a:t>
            </a:r>
            <a:endParaRPr lang="en-US" sz="2800" dirty="0"/>
          </a:p>
        </p:txBody>
      </p:sp>
      <p:sp>
        <p:nvSpPr>
          <p:cNvPr id="5" name="Shape 3"/>
          <p:cNvSpPr/>
          <p:nvPr/>
        </p:nvSpPr>
        <p:spPr>
          <a:xfrm>
            <a:off x="457200" y="1691640"/>
            <a:ext cx="8229600" cy="36576"/>
          </a:xfrm>
          <a:prstGeom prst="rect">
            <a:avLst/>
          </a:prstGeom>
          <a:solidFill>
            <a:srgbClr val="D4A017"/>
          </a:solidFill>
          <a:ln w="12700">
            <a:solidFill>
              <a:srgbClr val="D4A017"/>
            </a:solidFill>
            <a:prstDash val="solid"/>
          </a:ln>
        </p:spPr>
      </p:sp>
      <p:sp>
        <p:nvSpPr>
          <p:cNvPr id="6" name="Shape 4"/>
          <p:cNvSpPr/>
          <p:nvPr/>
        </p:nvSpPr>
        <p:spPr>
          <a:xfrm>
            <a:off x="457200" y="1984248"/>
            <a:ext cx="320040" cy="320040"/>
          </a:xfrm>
          <a:prstGeom prst="rect">
            <a:avLst>
              <a:gd name="adj" fmla="val 11429"/>
            </a:avLst>
          </a:prstGeom>
          <a:solidFill>
            <a:srgbClr val="D4A017"/>
          </a:solidFill>
          <a:ln w="12700">
            <a:solidFill>
              <a:srgbClr val="D4A017"/>
            </a:solidFill>
            <a:prstDash val="solid"/>
          </a:ln>
        </p:spPr>
      </p:sp>
      <p:sp>
        <p:nvSpPr>
          <p:cNvPr id="7" name="Text 5"/>
          <p:cNvSpPr/>
          <p:nvPr/>
        </p:nvSpPr>
        <p:spPr>
          <a:xfrm>
            <a:off x="457200" y="198424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005840" y="187452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Performance model: client only pays when measurable result is delivered</a:t>
            </a:r>
            <a:endParaRPr lang="en-US" sz="1500" dirty="0"/>
          </a:p>
        </p:txBody>
      </p:sp>
      <p:sp>
        <p:nvSpPr>
          <p:cNvPr id="9" name="Shape 7"/>
          <p:cNvSpPr/>
          <p:nvPr/>
        </p:nvSpPr>
        <p:spPr>
          <a:xfrm>
            <a:off x="457200" y="2761488"/>
            <a:ext cx="320040" cy="320040"/>
          </a:xfrm>
          <a:prstGeom prst="rect">
            <a:avLst>
              <a:gd name="adj" fmla="val 11429"/>
            </a:avLst>
          </a:prstGeom>
          <a:solidFill>
            <a:srgbClr val="D4A017"/>
          </a:solidFill>
          <a:ln w="12700">
            <a:solidFill>
              <a:srgbClr val="D4A017"/>
            </a:solidFill>
            <a:prstDash val="solid"/>
          </a:ln>
        </p:spPr>
      </p:sp>
      <p:sp>
        <p:nvSpPr>
          <p:cNvPr id="10" name="Text 8"/>
          <p:cNvSpPr/>
          <p:nvPr/>
        </p:nvSpPr>
        <p:spPr>
          <a:xfrm>
            <a:off x="457200" y="276148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005840" y="265176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AI reduces your cost-per-outcome by 85–90% vs. human delivery</a:t>
            </a:r>
            <a:endParaRPr lang="en-US" sz="1500" dirty="0"/>
          </a:p>
        </p:txBody>
      </p:sp>
      <p:sp>
        <p:nvSpPr>
          <p:cNvPr id="12" name="Shape 10"/>
          <p:cNvSpPr/>
          <p:nvPr/>
        </p:nvSpPr>
        <p:spPr>
          <a:xfrm>
            <a:off x="457200" y="3538728"/>
            <a:ext cx="320040" cy="320040"/>
          </a:xfrm>
          <a:prstGeom prst="rect">
            <a:avLst>
              <a:gd name="adj" fmla="val 11429"/>
            </a:avLst>
          </a:prstGeom>
          <a:solidFill>
            <a:srgbClr val="D4A017"/>
          </a:solidFill>
          <a:ln w="12700">
            <a:solidFill>
              <a:srgbClr val="D4A017"/>
            </a:solidFill>
            <a:prstDash val="solid"/>
          </a:ln>
        </p:spPr>
      </p:sp>
      <p:sp>
        <p:nvSpPr>
          <p:cNvPr id="13" name="Text 11"/>
          <p:cNvSpPr/>
          <p:nvPr/>
        </p:nvSpPr>
        <p:spPr>
          <a:xfrm>
            <a:off x="457200" y="353872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005840" y="342900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Standard outcome catalog: leads, meetings, content, processed documents, translated files</a:t>
            </a:r>
            <a:endParaRPr lang="en-US" sz="1500" dirty="0"/>
          </a:p>
        </p:txBody>
      </p:sp>
      <p:sp>
        <p:nvSpPr>
          <p:cNvPr id="15" name="Shape 13"/>
          <p:cNvSpPr/>
          <p:nvPr/>
        </p:nvSpPr>
        <p:spPr>
          <a:xfrm>
            <a:off x="457200" y="4315968"/>
            <a:ext cx="320040" cy="320040"/>
          </a:xfrm>
          <a:prstGeom prst="rect">
            <a:avLst>
              <a:gd name="adj" fmla="val 11429"/>
            </a:avLst>
          </a:prstGeom>
          <a:solidFill>
            <a:srgbClr val="D4A017"/>
          </a:solidFill>
          <a:ln w="12700">
            <a:solidFill>
              <a:srgbClr val="D4A017"/>
            </a:solidFill>
            <a:prstDash val="solid"/>
          </a:ln>
        </p:spPr>
      </p:sp>
      <p:sp>
        <p:nvSpPr>
          <p:cNvPr id="16" name="Text 14"/>
          <p:cNvSpPr/>
          <p:nvPr/>
        </p:nvSpPr>
        <p:spPr>
          <a:xfrm>
            <a:off x="457200" y="431596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1005840" y="420624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Quality control layer: human review before delivery ensures client satisfaction</a:t>
            </a:r>
            <a:endParaRPr lang="en-US" sz="1500" dirty="0"/>
          </a:p>
        </p:txBody>
      </p:sp>
      <p:sp>
        <p:nvSpPr>
          <p:cNvPr id="18" name="Shape 16"/>
          <p:cNvSpPr/>
          <p:nvPr/>
        </p:nvSpPr>
        <p:spPr>
          <a:xfrm>
            <a:off x="457200" y="5093208"/>
            <a:ext cx="320040" cy="320040"/>
          </a:xfrm>
          <a:prstGeom prst="rect">
            <a:avLst>
              <a:gd name="adj" fmla="val 11429"/>
            </a:avLst>
          </a:prstGeom>
          <a:solidFill>
            <a:srgbClr val="D4A017"/>
          </a:solidFill>
          <a:ln w="12700">
            <a:solidFill>
              <a:srgbClr val="D4A017"/>
            </a:solidFill>
            <a:prstDash val="solid"/>
          </a:ln>
        </p:spPr>
      </p:sp>
      <p:sp>
        <p:nvSpPr>
          <p:cNvPr id="19" name="Text 17"/>
          <p:cNvSpPr/>
          <p:nvPr/>
        </p:nvSpPr>
        <p:spPr>
          <a:xfrm>
            <a:off x="457200" y="5093208"/>
            <a:ext cx="320040" cy="32004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5</a:t>
            </a:r>
            <a:endParaRPr lang="en-US" sz="1200" dirty="0"/>
          </a:p>
        </p:txBody>
      </p:sp>
      <p:sp>
        <p:nvSpPr>
          <p:cNvPr id="20" name="Text 18"/>
          <p:cNvSpPr/>
          <p:nvPr/>
        </p:nvSpPr>
        <p:spPr>
          <a:xfrm>
            <a:off x="1005840" y="4983480"/>
            <a:ext cx="10515600" cy="6400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Scales infinitely — more clients, same AI stack, same operator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65760"/>
            <a:ext cx="10972800" cy="457200"/>
          </a:xfrm>
          <a:prstGeom prst="rect">
            <a:avLst/>
          </a:prstGeom>
          <a:noFill/>
          <a:ln/>
        </p:spPr>
        <p:txBody>
          <a:bodyPr wrap="square" lIns="0" tIns="0" rIns="0" bIns="0" rtlCol="0" anchor="ctr"/>
          <a:lstStyle/>
          <a:p>
            <a:pPr indent="0" marL="0">
              <a:buNone/>
            </a:pPr>
            <a:r>
              <a:rPr lang="en-US" sz="1200" b="1" spc="300" kern="0" dirty="0">
                <a:solidFill>
                  <a:srgbClr val="D4A017"/>
                </a:solidFill>
                <a:latin typeface="Arial" pitchFamily="34" charset="0"/>
                <a:ea typeface="Arial" pitchFamily="34" charset="-122"/>
                <a:cs typeface="Arial" pitchFamily="34" charset="-120"/>
              </a:rPr>
              <a:t>MARKET OPPORTUNITY — SOUTH AFRICA</a:t>
            </a:r>
            <a:endParaRPr lang="en-US" sz="1200" dirty="0"/>
          </a:p>
        </p:txBody>
      </p:sp>
      <p:sp>
        <p:nvSpPr>
          <p:cNvPr id="3" name="Shape 1"/>
          <p:cNvSpPr/>
          <p:nvPr/>
        </p:nvSpPr>
        <p:spPr>
          <a:xfrm>
            <a:off x="457200" y="1005840"/>
            <a:ext cx="2651760" cy="1828800"/>
          </a:xfrm>
          <a:prstGeom prst="rect">
            <a:avLst>
              <a:gd name="adj" fmla="val 4000"/>
            </a:avLst>
          </a:prstGeom>
          <a:solidFill>
            <a:srgbClr val="1A56A0"/>
          </a:solidFill>
          <a:ln w="12700">
            <a:solidFill>
              <a:srgbClr val="1A56A0"/>
            </a:solidFill>
            <a:prstDash val="solid"/>
          </a:ln>
        </p:spPr>
      </p:sp>
      <p:sp>
        <p:nvSpPr>
          <p:cNvPr id="4" name="Text 2"/>
          <p:cNvSpPr/>
          <p:nvPr/>
        </p:nvSpPr>
        <p:spPr>
          <a:xfrm>
            <a:off x="457200" y="1115568"/>
            <a:ext cx="2651760" cy="1005840"/>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R80/lead</a:t>
            </a:r>
            <a:endParaRPr lang="en-US" sz="2800" dirty="0"/>
          </a:p>
        </p:txBody>
      </p:sp>
      <p:sp>
        <p:nvSpPr>
          <p:cNvPr id="5" name="Text 3"/>
          <p:cNvSpPr/>
          <p:nvPr/>
        </p:nvSpPr>
        <p:spPr>
          <a:xfrm>
            <a:off x="457200" y="2066544"/>
            <a:ext cx="2651760" cy="694944"/>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Your cost: R8 (AI) → R80 client price</a:t>
            </a:r>
            <a:endParaRPr lang="en-US" sz="1000" dirty="0"/>
          </a:p>
        </p:txBody>
      </p:sp>
      <p:sp>
        <p:nvSpPr>
          <p:cNvPr id="6" name="Shape 4"/>
          <p:cNvSpPr/>
          <p:nvPr/>
        </p:nvSpPr>
        <p:spPr>
          <a:xfrm>
            <a:off x="3383280" y="1005840"/>
            <a:ext cx="2651760" cy="1828800"/>
          </a:xfrm>
          <a:prstGeom prst="rect">
            <a:avLst>
              <a:gd name="adj" fmla="val 4000"/>
            </a:avLst>
          </a:prstGeom>
          <a:solidFill>
            <a:srgbClr val="2D9B6F"/>
          </a:solidFill>
          <a:ln w="12700">
            <a:solidFill>
              <a:srgbClr val="2D9B6F"/>
            </a:solidFill>
            <a:prstDash val="solid"/>
          </a:ln>
        </p:spPr>
      </p:sp>
      <p:sp>
        <p:nvSpPr>
          <p:cNvPr id="7" name="Text 5"/>
          <p:cNvSpPr/>
          <p:nvPr/>
        </p:nvSpPr>
        <p:spPr>
          <a:xfrm>
            <a:off x="3383280" y="1115568"/>
            <a:ext cx="2651760" cy="1005840"/>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88%</a:t>
            </a:r>
            <a:endParaRPr lang="en-US" sz="2800" dirty="0"/>
          </a:p>
        </p:txBody>
      </p:sp>
      <p:sp>
        <p:nvSpPr>
          <p:cNvPr id="8" name="Text 6"/>
          <p:cNvSpPr/>
          <p:nvPr/>
        </p:nvSpPr>
        <p:spPr>
          <a:xfrm>
            <a:off x="3383280" y="2066544"/>
            <a:ext cx="2651760" cy="694944"/>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Net margin per qualified lead</a:t>
            </a:r>
            <a:endParaRPr lang="en-US" sz="1000" dirty="0"/>
          </a:p>
        </p:txBody>
      </p:sp>
      <p:sp>
        <p:nvSpPr>
          <p:cNvPr id="9" name="Shape 7"/>
          <p:cNvSpPr/>
          <p:nvPr/>
        </p:nvSpPr>
        <p:spPr>
          <a:xfrm>
            <a:off x="6309360" y="1005840"/>
            <a:ext cx="2651760" cy="1828800"/>
          </a:xfrm>
          <a:prstGeom prst="rect">
            <a:avLst>
              <a:gd name="adj" fmla="val 4000"/>
            </a:avLst>
          </a:prstGeom>
          <a:solidFill>
            <a:srgbClr val="D4A017"/>
          </a:solidFill>
          <a:ln w="12700">
            <a:solidFill>
              <a:srgbClr val="D4A017"/>
            </a:solidFill>
            <a:prstDash val="solid"/>
          </a:ln>
        </p:spPr>
      </p:sp>
      <p:sp>
        <p:nvSpPr>
          <p:cNvPr id="10" name="Text 8"/>
          <p:cNvSpPr/>
          <p:nvPr/>
        </p:nvSpPr>
        <p:spPr>
          <a:xfrm>
            <a:off x="6309360" y="1115568"/>
            <a:ext cx="2651760" cy="1005840"/>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R500/post</a:t>
            </a:r>
            <a:endParaRPr lang="en-US" sz="2800" dirty="0"/>
          </a:p>
        </p:txBody>
      </p:sp>
      <p:sp>
        <p:nvSpPr>
          <p:cNvPr id="11" name="Text 9"/>
          <p:cNvSpPr/>
          <p:nvPr/>
        </p:nvSpPr>
        <p:spPr>
          <a:xfrm>
            <a:off x="6309360" y="2066544"/>
            <a:ext cx="2651760" cy="694944"/>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Social content: R25 AI cost</a:t>
            </a:r>
            <a:endParaRPr lang="en-US" sz="1000" dirty="0"/>
          </a:p>
        </p:txBody>
      </p:sp>
      <p:sp>
        <p:nvSpPr>
          <p:cNvPr id="12" name="Shape 10"/>
          <p:cNvSpPr/>
          <p:nvPr/>
        </p:nvSpPr>
        <p:spPr>
          <a:xfrm>
            <a:off x="9235440" y="1005840"/>
            <a:ext cx="2651760" cy="1828800"/>
          </a:xfrm>
          <a:prstGeom prst="rect">
            <a:avLst>
              <a:gd name="adj" fmla="val 4000"/>
            </a:avLst>
          </a:prstGeom>
          <a:solidFill>
            <a:srgbClr val="7C3AED"/>
          </a:solidFill>
          <a:ln w="12700">
            <a:solidFill>
              <a:srgbClr val="7C3AED"/>
            </a:solidFill>
            <a:prstDash val="solid"/>
          </a:ln>
        </p:spPr>
      </p:sp>
      <p:sp>
        <p:nvSpPr>
          <p:cNvPr id="13" name="Text 11"/>
          <p:cNvSpPr/>
          <p:nvPr/>
        </p:nvSpPr>
        <p:spPr>
          <a:xfrm>
            <a:off x="9235440" y="1115568"/>
            <a:ext cx="2651760" cy="1005840"/>
          </a:xfrm>
          <a:prstGeom prst="rect">
            <a:avLst/>
          </a:prstGeom>
          <a:noFill/>
          <a:ln/>
        </p:spPr>
        <p:txBody>
          <a:bodyPr wrap="square" lIns="0" tIns="0" rIns="0" bIns="0" rtlCol="0" anchor="b"/>
          <a:lstStyle/>
          <a:p>
            <a:pPr algn="ctr" indent="0" marL="0">
              <a:buNone/>
            </a:pPr>
            <a:r>
              <a:rPr lang="en-US" sz="2800" b="1" dirty="0">
                <a:solidFill>
                  <a:srgbClr val="FFFFFF"/>
                </a:solidFill>
                <a:latin typeface="Arial" pitchFamily="34" charset="0"/>
                <a:ea typeface="Arial" pitchFamily="34" charset="-122"/>
                <a:cs typeface="Arial" pitchFamily="34" charset="-120"/>
              </a:rPr>
              <a:t>70%</a:t>
            </a:r>
            <a:endParaRPr lang="en-US" sz="2800" dirty="0"/>
          </a:p>
        </p:txBody>
      </p:sp>
      <p:sp>
        <p:nvSpPr>
          <p:cNvPr id="14" name="Text 12"/>
          <p:cNvSpPr/>
          <p:nvPr/>
        </p:nvSpPr>
        <p:spPr>
          <a:xfrm>
            <a:off x="9235440" y="2066544"/>
            <a:ext cx="2651760" cy="694944"/>
          </a:xfrm>
          <a:prstGeom prst="rect">
            <a:avLst/>
          </a:prstGeom>
          <a:noFill/>
          <a:ln/>
        </p:spPr>
        <p:txBody>
          <a:bodyPr wrap="square" lIns="0" tIns="0" rIns="0" bIns="0" rtlCol="0" anchor="t"/>
          <a:lstStyle/>
          <a:p>
            <a:pPr algn="ctr" indent="0" marL="0">
              <a:buNone/>
            </a:pPr>
            <a:r>
              <a:rPr lang="en-US" sz="1000" dirty="0">
                <a:solidFill>
                  <a:srgbClr val="CCDDEE"/>
                </a:solidFill>
                <a:latin typeface="Arial" pitchFamily="34" charset="0"/>
                <a:ea typeface="Arial" pitchFamily="34" charset="-122"/>
                <a:cs typeface="Arial" pitchFamily="34" charset="-120"/>
              </a:rPr>
              <a:t>Average net margin across all outcomes</a:t>
            </a:r>
            <a:endParaRPr lang="en-US" sz="1000" dirty="0"/>
          </a:p>
        </p:txBody>
      </p:sp>
      <p:sp>
        <p:nvSpPr>
          <p:cNvPr id="15" name="Shape 13"/>
          <p:cNvSpPr/>
          <p:nvPr/>
        </p:nvSpPr>
        <p:spPr>
          <a:xfrm>
            <a:off x="457200" y="3108960"/>
            <a:ext cx="8229600" cy="36576"/>
          </a:xfrm>
          <a:prstGeom prst="rect">
            <a:avLst/>
          </a:prstGeom>
          <a:solidFill>
            <a:srgbClr val="D4A017"/>
          </a:solidFill>
          <a:ln w="12700">
            <a:solidFill>
              <a:srgbClr val="D4A017"/>
            </a:solidFill>
            <a:prstDash val="solid"/>
          </a:ln>
        </p:spPr>
      </p:sp>
      <p:sp>
        <p:nvSpPr>
          <p:cNvPr id="16" name="Text 14"/>
          <p:cNvSpPr/>
          <p:nvPr/>
        </p:nvSpPr>
        <p:spPr>
          <a:xfrm>
            <a:off x="457200" y="3291840"/>
            <a:ext cx="10972800" cy="2286000"/>
          </a:xfrm>
          <a:prstGeom prst="rect">
            <a:avLst/>
          </a:prstGeom>
          <a:noFill/>
          <a:ln/>
        </p:spPr>
        <p:txBody>
          <a:bodyPr wrap="square" lIns="0" tIns="0" rIns="0" bIns="0" rtlCol="0" anchor="ctr"/>
          <a:lstStyle/>
          <a:p>
            <a:pPr indent="0" marL="0">
              <a:buNone/>
            </a:pPr>
            <a:r>
              <a:rPr lang="en-US" sz="1400" dirty="0">
                <a:solidFill>
                  <a:srgbClr val="BBCCDD"/>
                </a:solidFill>
                <a:latin typeface="Arial" pitchFamily="34" charset="0"/>
                <a:ea typeface="Arial" pitchFamily="34" charset="-122"/>
                <a:cs typeface="Arial" pitchFamily="34" charset="-120"/>
              </a:rPr>
              <a:t>The shift from time-based to outcome-based pricing is the biggest trend in B2B services globally. In SA, businesses are especially receptive because they've been burned by traditional agencies. Performance pricing closes deals immediately.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182880"/>
            <a:ext cx="9144000" cy="411480"/>
          </a:xfrm>
          <a:prstGeom prst="rect">
            <a:avLst/>
          </a:prstGeom>
          <a:solidFill>
            <a:srgbClr val="1B2A4A"/>
          </a:solidFill>
          <a:ln w="12700">
            <a:solidFill>
              <a:srgbClr val="1B2A4A"/>
            </a:solidFill>
            <a:prstDash val="solid"/>
          </a:ln>
        </p:spPr>
      </p:sp>
      <p:sp>
        <p:nvSpPr>
          <p:cNvPr id="3" name="Text 1"/>
          <p:cNvSpPr/>
          <p:nvPr/>
        </p:nvSpPr>
        <p:spPr>
          <a:xfrm>
            <a:off x="274320" y="237744"/>
            <a:ext cx="8229600" cy="292608"/>
          </a:xfrm>
          <a:prstGeom prst="rect">
            <a:avLst/>
          </a:prstGeom>
          <a:noFill/>
          <a:ln/>
        </p:spPr>
        <p:txBody>
          <a:bodyPr wrap="square" lIns="0" tIns="0" rIns="0" bIns="0"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BUSINESS MODEL &amp; REVENUE</a:t>
            </a:r>
            <a:endParaRPr lang="en-US" sz="1100" dirty="0"/>
          </a:p>
        </p:txBody>
      </p:sp>
      <p:sp>
        <p:nvSpPr>
          <p:cNvPr id="4" name="Text 2"/>
          <p:cNvSpPr/>
          <p:nvPr/>
        </p:nvSpPr>
        <p:spPr>
          <a:xfrm>
            <a:off x="457200" y="777240"/>
            <a:ext cx="10972800" cy="640080"/>
          </a:xfrm>
          <a:prstGeom prst="rect">
            <a:avLst/>
          </a:prstGeom>
          <a:noFill/>
          <a:ln/>
        </p:spPr>
        <p:txBody>
          <a:bodyPr wrap="square" lIns="0" tIns="0" rIns="0" bIns="0" rtlCol="0" anchor="ctr"/>
          <a:lstStyle/>
          <a:p>
            <a:pPr indent="0" marL="0">
              <a:buNone/>
            </a:pPr>
            <a:r>
              <a:rPr lang="en-US" sz="2600" b="1" dirty="0">
                <a:solidFill>
                  <a:srgbClr val="1B2A4A"/>
                </a:solidFill>
                <a:latin typeface="Arial" pitchFamily="34" charset="0"/>
                <a:ea typeface="Arial" pitchFamily="34" charset="-122"/>
                <a:cs typeface="Arial" pitchFamily="34" charset="-120"/>
              </a:rPr>
              <a:t>How We Make Money</a:t>
            </a:r>
            <a:endParaRPr lang="en-US" sz="2600" dirty="0"/>
          </a:p>
        </p:txBody>
      </p:sp>
      <p:sp>
        <p:nvSpPr>
          <p:cNvPr id="5" name="Shape 3"/>
          <p:cNvSpPr/>
          <p:nvPr/>
        </p:nvSpPr>
        <p:spPr>
          <a:xfrm>
            <a:off x="457200" y="1508760"/>
            <a:ext cx="8229600" cy="36576"/>
          </a:xfrm>
          <a:prstGeom prst="rect">
            <a:avLst/>
          </a:prstGeom>
          <a:solidFill>
            <a:srgbClr val="D4A017"/>
          </a:solidFill>
          <a:ln w="12700">
            <a:solidFill>
              <a:srgbClr val="D4A017"/>
            </a:solidFill>
            <a:prstDash val="solid"/>
          </a:ln>
        </p:spPr>
      </p:sp>
      <p:sp>
        <p:nvSpPr>
          <p:cNvPr id="6" name="Shape 4"/>
          <p:cNvSpPr/>
          <p:nvPr/>
        </p:nvSpPr>
        <p:spPr>
          <a:xfrm>
            <a:off x="457200" y="1737360"/>
            <a:ext cx="3474720" cy="3200400"/>
          </a:xfrm>
          <a:prstGeom prst="rect">
            <a:avLst>
              <a:gd name="adj" fmla="val 2857"/>
            </a:avLst>
          </a:prstGeom>
          <a:solidFill>
            <a:srgbClr val="E8EDF5"/>
          </a:solidFill>
          <a:ln w="12700">
            <a:solidFill>
              <a:srgbClr val="1B2A4A"/>
            </a:solidFill>
            <a:prstDash val="solid"/>
          </a:ln>
        </p:spPr>
      </p:sp>
      <p:sp>
        <p:nvSpPr>
          <p:cNvPr id="7" name="Text 5"/>
          <p:cNvSpPr/>
          <p:nvPr/>
        </p:nvSpPr>
        <p:spPr>
          <a:xfrm>
            <a:off x="457200" y="1828800"/>
            <a:ext cx="3474720" cy="457200"/>
          </a:xfrm>
          <a:prstGeom prst="rect">
            <a:avLst/>
          </a:prstGeom>
          <a:noFill/>
          <a:ln/>
        </p:spPr>
        <p:txBody>
          <a:bodyPr wrap="square" lIns="0" tIns="0" rIns="0" bIns="0" rtlCol="0" anchor="ctr"/>
          <a:lstStyle/>
          <a:p>
            <a:pPr algn="ctr" indent="0" marL="0">
              <a:buNone/>
            </a:pPr>
            <a:r>
              <a:rPr lang="en-US" sz="1300" b="1" dirty="0">
                <a:solidFill>
                  <a:srgbClr val="1B2A4A"/>
                </a:solidFill>
                <a:latin typeface="Arial" pitchFamily="34" charset="0"/>
                <a:ea typeface="Arial" pitchFamily="34" charset="-122"/>
                <a:cs typeface="Arial" pitchFamily="34" charset="-120"/>
              </a:rPr>
              <a:t>LEAD GEN</a:t>
            </a:r>
            <a:endParaRPr lang="en-US" sz="1300" dirty="0"/>
          </a:p>
        </p:txBody>
      </p:sp>
      <p:sp>
        <p:nvSpPr>
          <p:cNvPr id="8" name="Text 6"/>
          <p:cNvSpPr/>
          <p:nvPr/>
        </p:nvSpPr>
        <p:spPr>
          <a:xfrm>
            <a:off x="457200" y="2331720"/>
            <a:ext cx="3474720" cy="640080"/>
          </a:xfrm>
          <a:prstGeom prst="rect">
            <a:avLst/>
          </a:prstGeom>
          <a:noFill/>
          <a:ln/>
        </p:spPr>
        <p:txBody>
          <a:bodyPr wrap="square" lIns="0" tIns="0" rIns="0" bIns="0" rtlCol="0" anchor="ctr"/>
          <a:lstStyle/>
          <a:p>
            <a:pPr algn="ctr" indent="0" marL="0">
              <a:buNone/>
            </a:pPr>
            <a:r>
              <a:rPr lang="en-US" sz="2200" b="1" dirty="0">
                <a:solidFill>
                  <a:srgbClr val="1B2A4A"/>
                </a:solidFill>
                <a:latin typeface="Arial" pitchFamily="34" charset="0"/>
                <a:ea typeface="Arial" pitchFamily="34" charset="-122"/>
                <a:cs typeface="Arial" pitchFamily="34" charset="-120"/>
              </a:rPr>
              <a:t>R80/lead</a:t>
            </a:r>
            <a:endParaRPr lang="en-US" sz="2200" dirty="0"/>
          </a:p>
        </p:txBody>
      </p:sp>
      <p:sp>
        <p:nvSpPr>
          <p:cNvPr id="9" name="Text 7"/>
          <p:cNvSpPr/>
          <p:nvPr/>
        </p:nvSpPr>
        <p:spPr>
          <a:xfrm>
            <a:off x="548640" y="3063240"/>
            <a:ext cx="3291840" cy="1737360"/>
          </a:xfrm>
          <a:prstGeom prst="rect">
            <a:avLst/>
          </a:prstGeom>
          <a:noFill/>
          <a:ln/>
        </p:spPr>
        <p:txBody>
          <a:bodyPr wrap="square" lIns="0" tIns="0" rIns="0" bIns="0" rtlCol="0" anchor="ctr"/>
          <a:lstStyle/>
          <a:p>
            <a:pPr algn="ctr" indent="0" marL="0">
              <a:buNone/>
            </a:pPr>
            <a:r>
              <a:rPr lang="en-US" sz="1100" dirty="0">
                <a:solidFill>
                  <a:srgbClr val="8090A0"/>
                </a:solidFill>
                <a:latin typeface="Arial" pitchFamily="34" charset="0"/>
                <a:ea typeface="Arial" pitchFamily="34" charset="-122"/>
                <a:cs typeface="Arial" pitchFamily="34" charset="-120"/>
              </a:rPr>
              <a:t>Qualified WhatsApp leads</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Delivered to client CRM</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AI cost: R8</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Net: R72/lead</a:t>
            </a:r>
            <a:endParaRPr lang="en-US" sz="1100" dirty="0"/>
          </a:p>
        </p:txBody>
      </p:sp>
      <p:sp>
        <p:nvSpPr>
          <p:cNvPr id="10" name="Shape 8"/>
          <p:cNvSpPr/>
          <p:nvPr/>
        </p:nvSpPr>
        <p:spPr>
          <a:xfrm>
            <a:off x="4206240" y="1737360"/>
            <a:ext cx="3474720" cy="3200400"/>
          </a:xfrm>
          <a:prstGeom prst="rect">
            <a:avLst>
              <a:gd name="adj" fmla="val 2857"/>
            </a:avLst>
          </a:prstGeom>
          <a:solidFill>
            <a:srgbClr val="1B2A4A"/>
          </a:solidFill>
          <a:ln w="12700">
            <a:solidFill>
              <a:srgbClr val="1B2A4A"/>
            </a:solidFill>
            <a:prstDash val="solid"/>
          </a:ln>
        </p:spPr>
      </p:sp>
      <p:sp>
        <p:nvSpPr>
          <p:cNvPr id="11" name="Text 9"/>
          <p:cNvSpPr/>
          <p:nvPr/>
        </p:nvSpPr>
        <p:spPr>
          <a:xfrm>
            <a:off x="4206240" y="1828800"/>
            <a:ext cx="3474720" cy="457200"/>
          </a:xfrm>
          <a:prstGeom prst="rect">
            <a:avLst/>
          </a:prstGeom>
          <a:noFill/>
          <a:ln/>
        </p:spPr>
        <p:txBody>
          <a:bodyPr wrap="square" lIns="0" tIns="0" rIns="0" bIns="0" rtlCol="0" anchor="ctr"/>
          <a:lstStyle/>
          <a:p>
            <a:pPr algn="ctr" indent="0" marL="0">
              <a:buNone/>
            </a:pPr>
            <a:r>
              <a:rPr lang="en-US" sz="1300" b="1" dirty="0">
                <a:solidFill>
                  <a:srgbClr val="D4A017"/>
                </a:solidFill>
                <a:latin typeface="Arial" pitchFamily="34" charset="0"/>
                <a:ea typeface="Arial" pitchFamily="34" charset="-122"/>
                <a:cs typeface="Arial" pitchFamily="34" charset="-120"/>
              </a:rPr>
              <a:t>CONTENT</a:t>
            </a:r>
            <a:endParaRPr lang="en-US" sz="1300" dirty="0"/>
          </a:p>
        </p:txBody>
      </p:sp>
      <p:sp>
        <p:nvSpPr>
          <p:cNvPr id="12" name="Text 10"/>
          <p:cNvSpPr/>
          <p:nvPr/>
        </p:nvSpPr>
        <p:spPr>
          <a:xfrm>
            <a:off x="4206240" y="2331720"/>
            <a:ext cx="347472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R500/post</a:t>
            </a:r>
            <a:endParaRPr lang="en-US" sz="2200" dirty="0"/>
          </a:p>
        </p:txBody>
      </p:sp>
      <p:sp>
        <p:nvSpPr>
          <p:cNvPr id="13" name="Text 11"/>
          <p:cNvSpPr/>
          <p:nvPr/>
        </p:nvSpPr>
        <p:spPr>
          <a:xfrm>
            <a:off x="4297680" y="3063240"/>
            <a:ext cx="3291840" cy="1737360"/>
          </a:xfrm>
          <a:prstGeom prst="rect">
            <a:avLst/>
          </a:prstGeom>
          <a:noFill/>
          <a:ln/>
        </p:spPr>
        <p:txBody>
          <a:bodyPr wrap="square" lIns="0" tIns="0" rIns="0" bIns="0" rtlCol="0" anchor="ctr"/>
          <a:lstStyle/>
          <a:p>
            <a:pPr algn="ctr" indent="0" marL="0">
              <a:buNone/>
            </a:pPr>
            <a:r>
              <a:rPr lang="en-US" sz="1100" dirty="0">
                <a:solidFill>
                  <a:srgbClr val="BBCCDD"/>
                </a:solidFill>
                <a:latin typeface="Arial" pitchFamily="34" charset="0"/>
                <a:ea typeface="Arial" pitchFamily="34" charset="-122"/>
                <a:cs typeface="Arial" pitchFamily="34" charset="-120"/>
              </a:rPr>
              <a:t>30 social posts/month</a:t>
            </a:r>
            <a:endParaRPr lang="en-US" sz="1100" dirty="0"/>
          </a:p>
          <a:p>
            <a:pPr algn="ctr" indent="0" marL="0">
              <a:buNone/>
            </a:pPr>
            <a:r>
              <a:rPr lang="en-US" sz="1100" dirty="0">
                <a:solidFill>
                  <a:srgbClr val="BBCCDD"/>
                </a:solidFill>
                <a:latin typeface="Arial" pitchFamily="34" charset="0"/>
                <a:ea typeface="Arial" pitchFamily="34" charset="-122"/>
                <a:cs typeface="Arial" pitchFamily="34" charset="-120"/>
              </a:rPr>
              <a:t>Brand-voice AI copy</a:t>
            </a:r>
            <a:endParaRPr lang="en-US" sz="1100" dirty="0"/>
          </a:p>
          <a:p>
            <a:pPr algn="ctr" indent="0" marL="0">
              <a:buNone/>
            </a:pPr>
            <a:r>
              <a:rPr lang="en-US" sz="1100" dirty="0">
                <a:solidFill>
                  <a:srgbClr val="BBCCDD"/>
                </a:solidFill>
                <a:latin typeface="Arial" pitchFamily="34" charset="0"/>
                <a:ea typeface="Arial" pitchFamily="34" charset="-122"/>
                <a:cs typeface="Arial" pitchFamily="34" charset="-120"/>
              </a:rPr>
              <a:t>AI cost: R25/post</a:t>
            </a:r>
            <a:endParaRPr lang="en-US" sz="1100" dirty="0"/>
          </a:p>
          <a:p>
            <a:pPr algn="ctr" indent="0" marL="0">
              <a:buNone/>
            </a:pPr>
            <a:r>
              <a:rPr lang="en-US" sz="1100" dirty="0">
                <a:solidFill>
                  <a:srgbClr val="BBCCDD"/>
                </a:solidFill>
                <a:latin typeface="Arial" pitchFamily="34" charset="0"/>
                <a:ea typeface="Arial" pitchFamily="34" charset="-122"/>
                <a:cs typeface="Arial" pitchFamily="34" charset="-120"/>
              </a:rPr>
              <a:t>Net: R475/post</a:t>
            </a:r>
            <a:endParaRPr lang="en-US" sz="1100" dirty="0"/>
          </a:p>
        </p:txBody>
      </p:sp>
      <p:sp>
        <p:nvSpPr>
          <p:cNvPr id="14" name="Shape 12"/>
          <p:cNvSpPr/>
          <p:nvPr/>
        </p:nvSpPr>
        <p:spPr>
          <a:xfrm>
            <a:off x="7955280" y="1737360"/>
            <a:ext cx="3474720" cy="3200400"/>
          </a:xfrm>
          <a:prstGeom prst="rect">
            <a:avLst>
              <a:gd name="adj" fmla="val 2857"/>
            </a:avLst>
          </a:prstGeom>
          <a:solidFill>
            <a:srgbClr val="E8EDF5"/>
          </a:solidFill>
          <a:ln w="12700">
            <a:solidFill>
              <a:srgbClr val="1B2A4A"/>
            </a:solidFill>
            <a:prstDash val="solid"/>
          </a:ln>
        </p:spPr>
      </p:sp>
      <p:sp>
        <p:nvSpPr>
          <p:cNvPr id="15" name="Text 13"/>
          <p:cNvSpPr/>
          <p:nvPr/>
        </p:nvSpPr>
        <p:spPr>
          <a:xfrm>
            <a:off x="7955280" y="1828800"/>
            <a:ext cx="3474720" cy="457200"/>
          </a:xfrm>
          <a:prstGeom prst="rect">
            <a:avLst/>
          </a:prstGeom>
          <a:noFill/>
          <a:ln/>
        </p:spPr>
        <p:txBody>
          <a:bodyPr wrap="square" lIns="0" tIns="0" rIns="0" bIns="0" rtlCol="0" anchor="ctr"/>
          <a:lstStyle/>
          <a:p>
            <a:pPr algn="ctr" indent="0" marL="0">
              <a:buNone/>
            </a:pPr>
            <a:r>
              <a:rPr lang="en-US" sz="1300" b="1" dirty="0">
                <a:solidFill>
                  <a:srgbClr val="1B2A4A"/>
                </a:solidFill>
                <a:latin typeface="Arial" pitchFamily="34" charset="0"/>
                <a:ea typeface="Arial" pitchFamily="34" charset="-122"/>
                <a:cs typeface="Arial" pitchFamily="34" charset="-120"/>
              </a:rPr>
              <a:t>ENTERPRISE</a:t>
            </a:r>
            <a:endParaRPr lang="en-US" sz="1300" dirty="0"/>
          </a:p>
        </p:txBody>
      </p:sp>
      <p:sp>
        <p:nvSpPr>
          <p:cNvPr id="16" name="Text 14"/>
          <p:cNvSpPr/>
          <p:nvPr/>
        </p:nvSpPr>
        <p:spPr>
          <a:xfrm>
            <a:off x="7955280" y="2331720"/>
            <a:ext cx="3474720" cy="640080"/>
          </a:xfrm>
          <a:prstGeom prst="rect">
            <a:avLst/>
          </a:prstGeom>
          <a:noFill/>
          <a:ln/>
        </p:spPr>
        <p:txBody>
          <a:bodyPr wrap="square" lIns="0" tIns="0" rIns="0" bIns="0" rtlCol="0" anchor="ctr"/>
          <a:lstStyle/>
          <a:p>
            <a:pPr algn="ctr" indent="0" marL="0">
              <a:buNone/>
            </a:pPr>
            <a:r>
              <a:rPr lang="en-US" sz="2200" b="1" dirty="0">
                <a:solidFill>
                  <a:srgbClr val="1B2A4A"/>
                </a:solidFill>
                <a:latin typeface="Arial" pitchFamily="34" charset="0"/>
                <a:ea typeface="Arial" pitchFamily="34" charset="-122"/>
                <a:cs typeface="Arial" pitchFamily="34" charset="-120"/>
              </a:rPr>
              <a:t>Custom</a:t>
            </a:r>
            <a:endParaRPr lang="en-US" sz="2200" dirty="0"/>
          </a:p>
        </p:txBody>
      </p:sp>
      <p:sp>
        <p:nvSpPr>
          <p:cNvPr id="17" name="Text 15"/>
          <p:cNvSpPr/>
          <p:nvPr/>
        </p:nvSpPr>
        <p:spPr>
          <a:xfrm>
            <a:off x="8046720" y="3063240"/>
            <a:ext cx="3291840" cy="1737360"/>
          </a:xfrm>
          <a:prstGeom prst="rect">
            <a:avLst/>
          </a:prstGeom>
          <a:noFill/>
          <a:ln/>
        </p:spPr>
        <p:txBody>
          <a:bodyPr wrap="square" lIns="0" tIns="0" rIns="0" bIns="0" rtlCol="0" anchor="ctr"/>
          <a:lstStyle/>
          <a:p>
            <a:pPr algn="ctr" indent="0" marL="0">
              <a:buNone/>
            </a:pPr>
            <a:r>
              <a:rPr lang="en-US" sz="1100" dirty="0">
                <a:solidFill>
                  <a:srgbClr val="8090A0"/>
                </a:solidFill>
                <a:latin typeface="Arial" pitchFamily="34" charset="0"/>
                <a:ea typeface="Arial" pitchFamily="34" charset="-122"/>
                <a:cs typeface="Arial" pitchFamily="34" charset="-120"/>
              </a:rPr>
              <a:t>High-volume outcomes</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Dedicated AI pipeline</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Quality SLA included</a:t>
            </a:r>
            <a:endParaRPr lang="en-US" sz="1100" dirty="0"/>
          </a:p>
          <a:p>
            <a:pPr algn="ctr" indent="0" marL="0">
              <a:buNone/>
            </a:pPr>
            <a:r>
              <a:rPr lang="en-US" sz="1100" dirty="0">
                <a:solidFill>
                  <a:srgbClr val="8090A0"/>
                </a:solidFill>
                <a:latin typeface="Arial" pitchFamily="34" charset="0"/>
                <a:ea typeface="Arial" pitchFamily="34" charset="-122"/>
                <a:cs typeface="Arial" pitchFamily="34" charset="-120"/>
              </a:rPr>
              <a:t>Revenue share option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320040"/>
            <a:ext cx="10972800" cy="457200"/>
          </a:xfrm>
          <a:prstGeom prst="rect">
            <a:avLst/>
          </a:prstGeom>
          <a:noFill/>
          <a:ln/>
        </p:spPr>
        <p:txBody>
          <a:bodyPr wrap="square" lIns="0" tIns="0" rIns="0" bIns="0" rtlCol="0" anchor="ctr"/>
          <a:lstStyle/>
          <a:p>
            <a:pPr indent="0" marL="0">
              <a:buNone/>
            </a:pPr>
            <a:r>
              <a:rPr lang="en-US" sz="1200" b="1" spc="400" kern="0" dirty="0">
                <a:solidFill>
                  <a:srgbClr val="D4A017"/>
                </a:solidFill>
                <a:latin typeface="Arial" pitchFamily="34" charset="0"/>
                <a:ea typeface="Arial" pitchFamily="34" charset="-122"/>
                <a:cs typeface="Arial" pitchFamily="34" charset="-120"/>
              </a:rPr>
              <a:t>FINANCIAL PROJECTIONS</a:t>
            </a:r>
            <a:endParaRPr lang="en-US" sz="1200" dirty="0"/>
          </a:p>
        </p:txBody>
      </p:sp>
      <p:sp>
        <p:nvSpPr>
          <p:cNvPr id="3" name="Shape 1"/>
          <p:cNvSpPr/>
          <p:nvPr/>
        </p:nvSpPr>
        <p:spPr>
          <a:xfrm>
            <a:off x="457200" y="914400"/>
            <a:ext cx="2148840" cy="457200"/>
          </a:xfrm>
          <a:prstGeom prst="rect">
            <a:avLst/>
          </a:prstGeom>
          <a:solidFill>
            <a:srgbClr val="D4A017"/>
          </a:solidFill>
          <a:ln w="12700">
            <a:solidFill>
              <a:srgbClr val="D4A017"/>
            </a:solidFill>
            <a:prstDash val="solid"/>
          </a:ln>
        </p:spPr>
      </p:sp>
      <p:sp>
        <p:nvSpPr>
          <p:cNvPr id="4" name="Text 2"/>
          <p:cNvSpPr/>
          <p:nvPr/>
        </p:nvSpPr>
        <p:spPr>
          <a:xfrm>
            <a:off x="45720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Metric</a:t>
            </a:r>
            <a:endParaRPr lang="en-US" sz="1200" dirty="0"/>
          </a:p>
        </p:txBody>
      </p:sp>
      <p:sp>
        <p:nvSpPr>
          <p:cNvPr id="5" name="Shape 3"/>
          <p:cNvSpPr/>
          <p:nvPr/>
        </p:nvSpPr>
        <p:spPr>
          <a:xfrm>
            <a:off x="2651760" y="914400"/>
            <a:ext cx="2148840" cy="457200"/>
          </a:xfrm>
          <a:prstGeom prst="rect">
            <a:avLst/>
          </a:prstGeom>
          <a:solidFill>
            <a:srgbClr val="D4A017"/>
          </a:solidFill>
          <a:ln w="12700">
            <a:solidFill>
              <a:srgbClr val="D4A017"/>
            </a:solidFill>
            <a:prstDash val="solid"/>
          </a:ln>
        </p:spPr>
      </p:sp>
      <p:sp>
        <p:nvSpPr>
          <p:cNvPr id="6" name="Text 4"/>
          <p:cNvSpPr/>
          <p:nvPr/>
        </p:nvSpPr>
        <p:spPr>
          <a:xfrm>
            <a:off x="265176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Month 3</a:t>
            </a:r>
            <a:endParaRPr lang="en-US" sz="1200" dirty="0"/>
          </a:p>
        </p:txBody>
      </p:sp>
      <p:sp>
        <p:nvSpPr>
          <p:cNvPr id="7" name="Shape 5"/>
          <p:cNvSpPr/>
          <p:nvPr/>
        </p:nvSpPr>
        <p:spPr>
          <a:xfrm>
            <a:off x="4846320" y="914400"/>
            <a:ext cx="2148840" cy="457200"/>
          </a:xfrm>
          <a:prstGeom prst="rect">
            <a:avLst/>
          </a:prstGeom>
          <a:solidFill>
            <a:srgbClr val="D4A017"/>
          </a:solidFill>
          <a:ln w="12700">
            <a:solidFill>
              <a:srgbClr val="D4A017"/>
            </a:solidFill>
            <a:prstDash val="solid"/>
          </a:ln>
        </p:spPr>
      </p:sp>
      <p:sp>
        <p:nvSpPr>
          <p:cNvPr id="8" name="Text 6"/>
          <p:cNvSpPr/>
          <p:nvPr/>
        </p:nvSpPr>
        <p:spPr>
          <a:xfrm>
            <a:off x="484632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Month 6</a:t>
            </a:r>
            <a:endParaRPr lang="en-US" sz="1200" dirty="0"/>
          </a:p>
        </p:txBody>
      </p:sp>
      <p:sp>
        <p:nvSpPr>
          <p:cNvPr id="9" name="Shape 7"/>
          <p:cNvSpPr/>
          <p:nvPr/>
        </p:nvSpPr>
        <p:spPr>
          <a:xfrm>
            <a:off x="7040880" y="914400"/>
            <a:ext cx="2148840" cy="457200"/>
          </a:xfrm>
          <a:prstGeom prst="rect">
            <a:avLst/>
          </a:prstGeom>
          <a:solidFill>
            <a:srgbClr val="D4A017"/>
          </a:solidFill>
          <a:ln w="12700">
            <a:solidFill>
              <a:srgbClr val="D4A017"/>
            </a:solidFill>
            <a:prstDash val="solid"/>
          </a:ln>
        </p:spPr>
      </p:sp>
      <p:sp>
        <p:nvSpPr>
          <p:cNvPr id="10" name="Text 8"/>
          <p:cNvSpPr/>
          <p:nvPr/>
        </p:nvSpPr>
        <p:spPr>
          <a:xfrm>
            <a:off x="704088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Year 1</a:t>
            </a:r>
            <a:endParaRPr lang="en-US" sz="1200" dirty="0"/>
          </a:p>
        </p:txBody>
      </p:sp>
      <p:sp>
        <p:nvSpPr>
          <p:cNvPr id="11" name="Shape 9"/>
          <p:cNvSpPr/>
          <p:nvPr/>
        </p:nvSpPr>
        <p:spPr>
          <a:xfrm>
            <a:off x="9235440" y="914400"/>
            <a:ext cx="2148840" cy="457200"/>
          </a:xfrm>
          <a:prstGeom prst="rect">
            <a:avLst/>
          </a:prstGeom>
          <a:solidFill>
            <a:srgbClr val="D4A017"/>
          </a:solidFill>
          <a:ln w="12700">
            <a:solidFill>
              <a:srgbClr val="D4A017"/>
            </a:solidFill>
            <a:prstDash val="solid"/>
          </a:ln>
        </p:spPr>
      </p:sp>
      <p:sp>
        <p:nvSpPr>
          <p:cNvPr id="12" name="Text 10"/>
          <p:cNvSpPr/>
          <p:nvPr/>
        </p:nvSpPr>
        <p:spPr>
          <a:xfrm>
            <a:off x="9235440" y="914400"/>
            <a:ext cx="214884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Arial" pitchFamily="34" charset="0"/>
                <a:ea typeface="Arial" pitchFamily="34" charset="-122"/>
                <a:cs typeface="Arial" pitchFamily="34" charset="-120"/>
              </a:rPr>
              <a:t>Year 2</a:t>
            </a:r>
            <a:endParaRPr lang="en-US" sz="1200" dirty="0"/>
          </a:p>
        </p:txBody>
      </p:sp>
      <p:sp>
        <p:nvSpPr>
          <p:cNvPr id="13" name="Shape 11"/>
          <p:cNvSpPr/>
          <p:nvPr/>
        </p:nvSpPr>
        <p:spPr>
          <a:xfrm>
            <a:off x="457200" y="1417320"/>
            <a:ext cx="2148840" cy="612648"/>
          </a:xfrm>
          <a:prstGeom prst="rect">
            <a:avLst/>
          </a:prstGeom>
          <a:solidFill>
            <a:srgbClr val="243858"/>
          </a:solidFill>
          <a:ln w="12700">
            <a:solidFill>
              <a:srgbClr val="243858"/>
            </a:solidFill>
            <a:prstDash val="solid"/>
          </a:ln>
        </p:spPr>
      </p:sp>
      <p:sp>
        <p:nvSpPr>
          <p:cNvPr id="14" name="Text 12"/>
          <p:cNvSpPr/>
          <p:nvPr/>
        </p:nvSpPr>
        <p:spPr>
          <a:xfrm>
            <a:off x="457200" y="1417320"/>
            <a:ext cx="2148840" cy="612648"/>
          </a:xfrm>
          <a:prstGeom prst="rect">
            <a:avLst/>
          </a:prstGeom>
          <a:noFill/>
          <a:ln/>
        </p:spPr>
        <p:txBody>
          <a:bodyPr wrap="square" lIns="101600" tIns="101600" rIns="101600" bIns="101600" rtlCol="0" anchor="ctr"/>
          <a:lstStyle/>
          <a:p>
            <a:pPr algn="l" indent="0" marL="0">
              <a:buNone/>
            </a:pPr>
            <a:r>
              <a:rPr lang="en-US" sz="1100" dirty="0">
                <a:solidFill>
                  <a:srgbClr val="8090A0"/>
                </a:solidFill>
                <a:latin typeface="Arial" pitchFamily="34" charset="0"/>
                <a:ea typeface="Arial" pitchFamily="34" charset="-122"/>
                <a:cs typeface="Arial" pitchFamily="34" charset="-120"/>
              </a:rPr>
              <a:t>Outcomes Delivered/mo</a:t>
            </a:r>
            <a:endParaRPr lang="en-US" sz="1100" dirty="0"/>
          </a:p>
        </p:txBody>
      </p:sp>
      <p:sp>
        <p:nvSpPr>
          <p:cNvPr id="15" name="Shape 13"/>
          <p:cNvSpPr/>
          <p:nvPr/>
        </p:nvSpPr>
        <p:spPr>
          <a:xfrm>
            <a:off x="2651760" y="1417320"/>
            <a:ext cx="2148840" cy="612648"/>
          </a:xfrm>
          <a:prstGeom prst="rect">
            <a:avLst/>
          </a:prstGeom>
          <a:solidFill>
            <a:srgbClr val="243858"/>
          </a:solidFill>
          <a:ln w="12700">
            <a:solidFill>
              <a:srgbClr val="243858"/>
            </a:solidFill>
            <a:prstDash val="solid"/>
          </a:ln>
        </p:spPr>
      </p:sp>
      <p:sp>
        <p:nvSpPr>
          <p:cNvPr id="16" name="Text 14"/>
          <p:cNvSpPr/>
          <p:nvPr/>
        </p:nvSpPr>
        <p:spPr>
          <a:xfrm>
            <a:off x="2651760" y="1417320"/>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50</a:t>
            </a:r>
            <a:endParaRPr lang="en-US" sz="1300" dirty="0"/>
          </a:p>
        </p:txBody>
      </p:sp>
      <p:sp>
        <p:nvSpPr>
          <p:cNvPr id="17" name="Shape 15"/>
          <p:cNvSpPr/>
          <p:nvPr/>
        </p:nvSpPr>
        <p:spPr>
          <a:xfrm>
            <a:off x="4846320" y="1417320"/>
            <a:ext cx="2148840" cy="612648"/>
          </a:xfrm>
          <a:prstGeom prst="rect">
            <a:avLst/>
          </a:prstGeom>
          <a:solidFill>
            <a:srgbClr val="243858"/>
          </a:solidFill>
          <a:ln w="12700">
            <a:solidFill>
              <a:srgbClr val="243858"/>
            </a:solidFill>
            <a:prstDash val="solid"/>
          </a:ln>
        </p:spPr>
      </p:sp>
      <p:sp>
        <p:nvSpPr>
          <p:cNvPr id="18" name="Text 16"/>
          <p:cNvSpPr/>
          <p:nvPr/>
        </p:nvSpPr>
        <p:spPr>
          <a:xfrm>
            <a:off x="4846320" y="1417320"/>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200</a:t>
            </a:r>
            <a:endParaRPr lang="en-US" sz="1300" dirty="0"/>
          </a:p>
        </p:txBody>
      </p:sp>
      <p:sp>
        <p:nvSpPr>
          <p:cNvPr id="19" name="Shape 17"/>
          <p:cNvSpPr/>
          <p:nvPr/>
        </p:nvSpPr>
        <p:spPr>
          <a:xfrm>
            <a:off x="7040880" y="1417320"/>
            <a:ext cx="2148840" cy="612648"/>
          </a:xfrm>
          <a:prstGeom prst="rect">
            <a:avLst/>
          </a:prstGeom>
          <a:solidFill>
            <a:srgbClr val="243858"/>
          </a:solidFill>
          <a:ln w="12700">
            <a:solidFill>
              <a:srgbClr val="243858"/>
            </a:solidFill>
            <a:prstDash val="solid"/>
          </a:ln>
        </p:spPr>
      </p:sp>
      <p:sp>
        <p:nvSpPr>
          <p:cNvPr id="20" name="Text 18"/>
          <p:cNvSpPr/>
          <p:nvPr/>
        </p:nvSpPr>
        <p:spPr>
          <a:xfrm>
            <a:off x="7040880" y="1417320"/>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1,000</a:t>
            </a:r>
            <a:endParaRPr lang="en-US" sz="1300" dirty="0"/>
          </a:p>
        </p:txBody>
      </p:sp>
      <p:sp>
        <p:nvSpPr>
          <p:cNvPr id="21" name="Shape 19"/>
          <p:cNvSpPr/>
          <p:nvPr/>
        </p:nvSpPr>
        <p:spPr>
          <a:xfrm>
            <a:off x="9235440" y="1417320"/>
            <a:ext cx="2148840" cy="612648"/>
          </a:xfrm>
          <a:prstGeom prst="rect">
            <a:avLst/>
          </a:prstGeom>
          <a:solidFill>
            <a:srgbClr val="243858"/>
          </a:solidFill>
          <a:ln w="12700">
            <a:solidFill>
              <a:srgbClr val="243858"/>
            </a:solidFill>
            <a:prstDash val="solid"/>
          </a:ln>
        </p:spPr>
      </p:sp>
      <p:sp>
        <p:nvSpPr>
          <p:cNvPr id="22" name="Text 20"/>
          <p:cNvSpPr/>
          <p:nvPr/>
        </p:nvSpPr>
        <p:spPr>
          <a:xfrm>
            <a:off x="9235440" y="1417320"/>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5,000</a:t>
            </a:r>
            <a:endParaRPr lang="en-US" sz="1300" dirty="0"/>
          </a:p>
        </p:txBody>
      </p:sp>
      <p:sp>
        <p:nvSpPr>
          <p:cNvPr id="23" name="Shape 21"/>
          <p:cNvSpPr/>
          <p:nvPr/>
        </p:nvSpPr>
        <p:spPr>
          <a:xfrm>
            <a:off x="457200" y="2075688"/>
            <a:ext cx="2148840" cy="612648"/>
          </a:xfrm>
          <a:prstGeom prst="rect">
            <a:avLst/>
          </a:prstGeom>
          <a:solidFill>
            <a:srgbClr val="1B2A4A"/>
          </a:solidFill>
          <a:ln w="12700">
            <a:solidFill>
              <a:srgbClr val="1B2A4A"/>
            </a:solidFill>
            <a:prstDash val="solid"/>
          </a:ln>
        </p:spPr>
      </p:sp>
      <p:sp>
        <p:nvSpPr>
          <p:cNvPr id="24" name="Text 22"/>
          <p:cNvSpPr/>
          <p:nvPr/>
        </p:nvSpPr>
        <p:spPr>
          <a:xfrm>
            <a:off x="457200" y="2075688"/>
            <a:ext cx="2148840" cy="612648"/>
          </a:xfrm>
          <a:prstGeom prst="rect">
            <a:avLst/>
          </a:prstGeom>
          <a:noFill/>
          <a:ln/>
        </p:spPr>
        <p:txBody>
          <a:bodyPr wrap="square" lIns="101600" tIns="101600" rIns="101600" bIns="101600" rtlCol="0" anchor="ctr"/>
          <a:lstStyle/>
          <a:p>
            <a:pPr algn="l" indent="0" marL="0">
              <a:buNone/>
            </a:pPr>
            <a:r>
              <a:rPr lang="en-US" sz="1100" dirty="0">
                <a:solidFill>
                  <a:srgbClr val="8090A0"/>
                </a:solidFill>
                <a:latin typeface="Arial" pitchFamily="34" charset="0"/>
                <a:ea typeface="Arial" pitchFamily="34" charset="-122"/>
                <a:cs typeface="Arial" pitchFamily="34" charset="-120"/>
              </a:rPr>
              <a:t>Avg Revenue/Outcome</a:t>
            </a:r>
            <a:endParaRPr lang="en-US" sz="1100" dirty="0"/>
          </a:p>
        </p:txBody>
      </p:sp>
      <p:sp>
        <p:nvSpPr>
          <p:cNvPr id="25" name="Shape 23"/>
          <p:cNvSpPr/>
          <p:nvPr/>
        </p:nvSpPr>
        <p:spPr>
          <a:xfrm>
            <a:off x="2651760" y="2075688"/>
            <a:ext cx="2148840" cy="612648"/>
          </a:xfrm>
          <a:prstGeom prst="rect">
            <a:avLst/>
          </a:prstGeom>
          <a:solidFill>
            <a:srgbClr val="1B2A4A"/>
          </a:solidFill>
          <a:ln w="12700">
            <a:solidFill>
              <a:srgbClr val="1B2A4A"/>
            </a:solidFill>
            <a:prstDash val="solid"/>
          </a:ln>
        </p:spPr>
      </p:sp>
      <p:sp>
        <p:nvSpPr>
          <p:cNvPr id="26" name="Text 24"/>
          <p:cNvSpPr/>
          <p:nvPr/>
        </p:nvSpPr>
        <p:spPr>
          <a:xfrm>
            <a:off x="2651760" y="2075688"/>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R400</a:t>
            </a:r>
            <a:endParaRPr lang="en-US" sz="1300" dirty="0"/>
          </a:p>
        </p:txBody>
      </p:sp>
      <p:sp>
        <p:nvSpPr>
          <p:cNvPr id="27" name="Shape 25"/>
          <p:cNvSpPr/>
          <p:nvPr/>
        </p:nvSpPr>
        <p:spPr>
          <a:xfrm>
            <a:off x="4846320" y="2075688"/>
            <a:ext cx="2148840" cy="612648"/>
          </a:xfrm>
          <a:prstGeom prst="rect">
            <a:avLst/>
          </a:prstGeom>
          <a:solidFill>
            <a:srgbClr val="1B2A4A"/>
          </a:solidFill>
          <a:ln w="12700">
            <a:solidFill>
              <a:srgbClr val="1B2A4A"/>
            </a:solidFill>
            <a:prstDash val="solid"/>
          </a:ln>
        </p:spPr>
      </p:sp>
      <p:sp>
        <p:nvSpPr>
          <p:cNvPr id="28" name="Text 26"/>
          <p:cNvSpPr/>
          <p:nvPr/>
        </p:nvSpPr>
        <p:spPr>
          <a:xfrm>
            <a:off x="4846320" y="2075688"/>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R450</a:t>
            </a:r>
            <a:endParaRPr lang="en-US" sz="1300" dirty="0"/>
          </a:p>
        </p:txBody>
      </p:sp>
      <p:sp>
        <p:nvSpPr>
          <p:cNvPr id="29" name="Shape 27"/>
          <p:cNvSpPr/>
          <p:nvPr/>
        </p:nvSpPr>
        <p:spPr>
          <a:xfrm>
            <a:off x="7040880" y="2075688"/>
            <a:ext cx="2148840" cy="612648"/>
          </a:xfrm>
          <a:prstGeom prst="rect">
            <a:avLst/>
          </a:prstGeom>
          <a:solidFill>
            <a:srgbClr val="1B2A4A"/>
          </a:solidFill>
          <a:ln w="12700">
            <a:solidFill>
              <a:srgbClr val="1B2A4A"/>
            </a:solidFill>
            <a:prstDash val="solid"/>
          </a:ln>
        </p:spPr>
      </p:sp>
      <p:sp>
        <p:nvSpPr>
          <p:cNvPr id="30" name="Text 28"/>
          <p:cNvSpPr/>
          <p:nvPr/>
        </p:nvSpPr>
        <p:spPr>
          <a:xfrm>
            <a:off x="7040880" y="2075688"/>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R500</a:t>
            </a:r>
            <a:endParaRPr lang="en-US" sz="1300" dirty="0"/>
          </a:p>
        </p:txBody>
      </p:sp>
      <p:sp>
        <p:nvSpPr>
          <p:cNvPr id="31" name="Shape 29"/>
          <p:cNvSpPr/>
          <p:nvPr/>
        </p:nvSpPr>
        <p:spPr>
          <a:xfrm>
            <a:off x="9235440" y="2075688"/>
            <a:ext cx="2148840" cy="612648"/>
          </a:xfrm>
          <a:prstGeom prst="rect">
            <a:avLst/>
          </a:prstGeom>
          <a:solidFill>
            <a:srgbClr val="1B2A4A"/>
          </a:solidFill>
          <a:ln w="12700">
            <a:solidFill>
              <a:srgbClr val="1B2A4A"/>
            </a:solidFill>
            <a:prstDash val="solid"/>
          </a:ln>
        </p:spPr>
      </p:sp>
      <p:sp>
        <p:nvSpPr>
          <p:cNvPr id="32" name="Text 30"/>
          <p:cNvSpPr/>
          <p:nvPr/>
        </p:nvSpPr>
        <p:spPr>
          <a:xfrm>
            <a:off x="9235440" y="2075688"/>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R550</a:t>
            </a:r>
            <a:endParaRPr lang="en-US" sz="1300" dirty="0"/>
          </a:p>
        </p:txBody>
      </p:sp>
      <p:sp>
        <p:nvSpPr>
          <p:cNvPr id="33" name="Shape 31"/>
          <p:cNvSpPr/>
          <p:nvPr/>
        </p:nvSpPr>
        <p:spPr>
          <a:xfrm>
            <a:off x="457200" y="2734056"/>
            <a:ext cx="2148840" cy="612648"/>
          </a:xfrm>
          <a:prstGeom prst="rect">
            <a:avLst/>
          </a:prstGeom>
          <a:solidFill>
            <a:srgbClr val="243858"/>
          </a:solidFill>
          <a:ln w="12700">
            <a:solidFill>
              <a:srgbClr val="243858"/>
            </a:solidFill>
            <a:prstDash val="solid"/>
          </a:ln>
        </p:spPr>
      </p:sp>
      <p:sp>
        <p:nvSpPr>
          <p:cNvPr id="34" name="Text 32"/>
          <p:cNvSpPr/>
          <p:nvPr/>
        </p:nvSpPr>
        <p:spPr>
          <a:xfrm>
            <a:off x="457200" y="2734056"/>
            <a:ext cx="2148840" cy="612648"/>
          </a:xfrm>
          <a:prstGeom prst="rect">
            <a:avLst/>
          </a:prstGeom>
          <a:noFill/>
          <a:ln/>
        </p:spPr>
        <p:txBody>
          <a:bodyPr wrap="square" lIns="101600" tIns="101600" rIns="101600" bIns="101600" rtlCol="0" anchor="ctr"/>
          <a:lstStyle/>
          <a:p>
            <a:pPr algn="l" indent="0" marL="0">
              <a:buNone/>
            </a:pPr>
            <a:r>
              <a:rPr lang="en-US" sz="1100" dirty="0">
                <a:solidFill>
                  <a:srgbClr val="8090A0"/>
                </a:solidFill>
                <a:latin typeface="Arial" pitchFamily="34" charset="0"/>
                <a:ea typeface="Arial" pitchFamily="34" charset="-122"/>
                <a:cs typeface="Arial" pitchFamily="34" charset="-120"/>
              </a:rPr>
              <a:t>Monthly Revenue</a:t>
            </a:r>
            <a:endParaRPr lang="en-US" sz="1100" dirty="0"/>
          </a:p>
        </p:txBody>
      </p:sp>
      <p:sp>
        <p:nvSpPr>
          <p:cNvPr id="35" name="Shape 33"/>
          <p:cNvSpPr/>
          <p:nvPr/>
        </p:nvSpPr>
        <p:spPr>
          <a:xfrm>
            <a:off x="2651760" y="2734056"/>
            <a:ext cx="2148840" cy="612648"/>
          </a:xfrm>
          <a:prstGeom prst="rect">
            <a:avLst/>
          </a:prstGeom>
          <a:solidFill>
            <a:srgbClr val="243858"/>
          </a:solidFill>
          <a:ln w="12700">
            <a:solidFill>
              <a:srgbClr val="243858"/>
            </a:solidFill>
            <a:prstDash val="solid"/>
          </a:ln>
        </p:spPr>
      </p:sp>
      <p:sp>
        <p:nvSpPr>
          <p:cNvPr id="36" name="Text 34"/>
          <p:cNvSpPr/>
          <p:nvPr/>
        </p:nvSpPr>
        <p:spPr>
          <a:xfrm>
            <a:off x="2651760" y="2734056"/>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R20,000</a:t>
            </a:r>
            <a:endParaRPr lang="en-US" sz="1300" dirty="0"/>
          </a:p>
        </p:txBody>
      </p:sp>
      <p:sp>
        <p:nvSpPr>
          <p:cNvPr id="37" name="Shape 35"/>
          <p:cNvSpPr/>
          <p:nvPr/>
        </p:nvSpPr>
        <p:spPr>
          <a:xfrm>
            <a:off x="4846320" y="2734056"/>
            <a:ext cx="2148840" cy="612648"/>
          </a:xfrm>
          <a:prstGeom prst="rect">
            <a:avLst/>
          </a:prstGeom>
          <a:solidFill>
            <a:srgbClr val="243858"/>
          </a:solidFill>
          <a:ln w="12700">
            <a:solidFill>
              <a:srgbClr val="243858"/>
            </a:solidFill>
            <a:prstDash val="solid"/>
          </a:ln>
        </p:spPr>
      </p:sp>
      <p:sp>
        <p:nvSpPr>
          <p:cNvPr id="38" name="Text 36"/>
          <p:cNvSpPr/>
          <p:nvPr/>
        </p:nvSpPr>
        <p:spPr>
          <a:xfrm>
            <a:off x="4846320" y="2734056"/>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R90,000</a:t>
            </a:r>
            <a:endParaRPr lang="en-US" sz="1300" dirty="0"/>
          </a:p>
        </p:txBody>
      </p:sp>
      <p:sp>
        <p:nvSpPr>
          <p:cNvPr id="39" name="Shape 37"/>
          <p:cNvSpPr/>
          <p:nvPr/>
        </p:nvSpPr>
        <p:spPr>
          <a:xfrm>
            <a:off x="7040880" y="2734056"/>
            <a:ext cx="2148840" cy="612648"/>
          </a:xfrm>
          <a:prstGeom prst="rect">
            <a:avLst/>
          </a:prstGeom>
          <a:solidFill>
            <a:srgbClr val="243858"/>
          </a:solidFill>
          <a:ln w="12700">
            <a:solidFill>
              <a:srgbClr val="243858"/>
            </a:solidFill>
            <a:prstDash val="solid"/>
          </a:ln>
        </p:spPr>
      </p:sp>
      <p:sp>
        <p:nvSpPr>
          <p:cNvPr id="40" name="Text 38"/>
          <p:cNvSpPr/>
          <p:nvPr/>
        </p:nvSpPr>
        <p:spPr>
          <a:xfrm>
            <a:off x="7040880" y="2734056"/>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R500,000</a:t>
            </a:r>
            <a:endParaRPr lang="en-US" sz="1300" dirty="0"/>
          </a:p>
        </p:txBody>
      </p:sp>
      <p:sp>
        <p:nvSpPr>
          <p:cNvPr id="41" name="Shape 39"/>
          <p:cNvSpPr/>
          <p:nvPr/>
        </p:nvSpPr>
        <p:spPr>
          <a:xfrm>
            <a:off x="9235440" y="2734056"/>
            <a:ext cx="2148840" cy="612648"/>
          </a:xfrm>
          <a:prstGeom prst="rect">
            <a:avLst/>
          </a:prstGeom>
          <a:solidFill>
            <a:srgbClr val="243858"/>
          </a:solidFill>
          <a:ln w="12700">
            <a:solidFill>
              <a:srgbClr val="243858"/>
            </a:solidFill>
            <a:prstDash val="solid"/>
          </a:ln>
        </p:spPr>
      </p:sp>
      <p:sp>
        <p:nvSpPr>
          <p:cNvPr id="42" name="Text 40"/>
          <p:cNvSpPr/>
          <p:nvPr/>
        </p:nvSpPr>
        <p:spPr>
          <a:xfrm>
            <a:off x="9235440" y="2734056"/>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R2,750,000</a:t>
            </a:r>
            <a:endParaRPr lang="en-US" sz="1300" dirty="0"/>
          </a:p>
        </p:txBody>
      </p:sp>
      <p:sp>
        <p:nvSpPr>
          <p:cNvPr id="43" name="Shape 41"/>
          <p:cNvSpPr/>
          <p:nvPr/>
        </p:nvSpPr>
        <p:spPr>
          <a:xfrm>
            <a:off x="457200" y="3392424"/>
            <a:ext cx="2148840" cy="612648"/>
          </a:xfrm>
          <a:prstGeom prst="rect">
            <a:avLst/>
          </a:prstGeom>
          <a:solidFill>
            <a:srgbClr val="1B2A4A"/>
          </a:solidFill>
          <a:ln w="12700">
            <a:solidFill>
              <a:srgbClr val="1B2A4A"/>
            </a:solidFill>
            <a:prstDash val="solid"/>
          </a:ln>
        </p:spPr>
      </p:sp>
      <p:sp>
        <p:nvSpPr>
          <p:cNvPr id="44" name="Text 42"/>
          <p:cNvSpPr/>
          <p:nvPr/>
        </p:nvSpPr>
        <p:spPr>
          <a:xfrm>
            <a:off x="457200" y="3392424"/>
            <a:ext cx="2148840" cy="612648"/>
          </a:xfrm>
          <a:prstGeom prst="rect">
            <a:avLst/>
          </a:prstGeom>
          <a:noFill/>
          <a:ln/>
        </p:spPr>
        <p:txBody>
          <a:bodyPr wrap="square" lIns="101600" tIns="101600" rIns="101600" bIns="101600" rtlCol="0" anchor="ctr"/>
          <a:lstStyle/>
          <a:p>
            <a:pPr algn="l" indent="0" marL="0">
              <a:buNone/>
            </a:pPr>
            <a:r>
              <a:rPr lang="en-US" sz="1100" dirty="0">
                <a:solidFill>
                  <a:srgbClr val="8090A0"/>
                </a:solidFill>
                <a:latin typeface="Arial" pitchFamily="34" charset="0"/>
                <a:ea typeface="Arial" pitchFamily="34" charset="-122"/>
                <a:cs typeface="Arial" pitchFamily="34" charset="-120"/>
              </a:rPr>
              <a:t>Net Monthly Profit</a:t>
            </a:r>
            <a:endParaRPr lang="en-US" sz="1100" dirty="0"/>
          </a:p>
        </p:txBody>
      </p:sp>
      <p:sp>
        <p:nvSpPr>
          <p:cNvPr id="45" name="Shape 43"/>
          <p:cNvSpPr/>
          <p:nvPr/>
        </p:nvSpPr>
        <p:spPr>
          <a:xfrm>
            <a:off x="2651760" y="3392424"/>
            <a:ext cx="2148840" cy="612648"/>
          </a:xfrm>
          <a:prstGeom prst="rect">
            <a:avLst/>
          </a:prstGeom>
          <a:solidFill>
            <a:srgbClr val="1B2A4A"/>
          </a:solidFill>
          <a:ln w="12700">
            <a:solidFill>
              <a:srgbClr val="1B2A4A"/>
            </a:solidFill>
            <a:prstDash val="solid"/>
          </a:ln>
        </p:spPr>
      </p:sp>
      <p:sp>
        <p:nvSpPr>
          <p:cNvPr id="46" name="Text 44"/>
          <p:cNvSpPr/>
          <p:nvPr/>
        </p:nvSpPr>
        <p:spPr>
          <a:xfrm>
            <a:off x="2651760" y="3392424"/>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R13,000</a:t>
            </a:r>
            <a:endParaRPr lang="en-US" sz="1300" dirty="0"/>
          </a:p>
        </p:txBody>
      </p:sp>
      <p:sp>
        <p:nvSpPr>
          <p:cNvPr id="47" name="Shape 45"/>
          <p:cNvSpPr/>
          <p:nvPr/>
        </p:nvSpPr>
        <p:spPr>
          <a:xfrm>
            <a:off x="4846320" y="3392424"/>
            <a:ext cx="2148840" cy="612648"/>
          </a:xfrm>
          <a:prstGeom prst="rect">
            <a:avLst/>
          </a:prstGeom>
          <a:solidFill>
            <a:srgbClr val="1B2A4A"/>
          </a:solidFill>
          <a:ln w="12700">
            <a:solidFill>
              <a:srgbClr val="1B2A4A"/>
            </a:solidFill>
            <a:prstDash val="solid"/>
          </a:ln>
        </p:spPr>
      </p:sp>
      <p:sp>
        <p:nvSpPr>
          <p:cNvPr id="48" name="Text 46"/>
          <p:cNvSpPr/>
          <p:nvPr/>
        </p:nvSpPr>
        <p:spPr>
          <a:xfrm>
            <a:off x="4846320" y="3392424"/>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R58,500</a:t>
            </a:r>
            <a:endParaRPr lang="en-US" sz="1300" dirty="0"/>
          </a:p>
        </p:txBody>
      </p:sp>
      <p:sp>
        <p:nvSpPr>
          <p:cNvPr id="49" name="Shape 47"/>
          <p:cNvSpPr/>
          <p:nvPr/>
        </p:nvSpPr>
        <p:spPr>
          <a:xfrm>
            <a:off x="7040880" y="3392424"/>
            <a:ext cx="2148840" cy="612648"/>
          </a:xfrm>
          <a:prstGeom prst="rect">
            <a:avLst/>
          </a:prstGeom>
          <a:solidFill>
            <a:srgbClr val="1B2A4A"/>
          </a:solidFill>
          <a:ln w="12700">
            <a:solidFill>
              <a:srgbClr val="1B2A4A"/>
            </a:solidFill>
            <a:prstDash val="solid"/>
          </a:ln>
        </p:spPr>
      </p:sp>
      <p:sp>
        <p:nvSpPr>
          <p:cNvPr id="50" name="Text 48"/>
          <p:cNvSpPr/>
          <p:nvPr/>
        </p:nvSpPr>
        <p:spPr>
          <a:xfrm>
            <a:off x="7040880" y="3392424"/>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R325,000</a:t>
            </a:r>
            <a:endParaRPr lang="en-US" sz="1300" dirty="0"/>
          </a:p>
        </p:txBody>
      </p:sp>
      <p:sp>
        <p:nvSpPr>
          <p:cNvPr id="51" name="Shape 49"/>
          <p:cNvSpPr/>
          <p:nvPr/>
        </p:nvSpPr>
        <p:spPr>
          <a:xfrm>
            <a:off x="9235440" y="3392424"/>
            <a:ext cx="2148840" cy="612648"/>
          </a:xfrm>
          <a:prstGeom prst="rect">
            <a:avLst/>
          </a:prstGeom>
          <a:solidFill>
            <a:srgbClr val="1B2A4A"/>
          </a:solidFill>
          <a:ln w="12700">
            <a:solidFill>
              <a:srgbClr val="1B2A4A"/>
            </a:solidFill>
            <a:prstDash val="solid"/>
          </a:ln>
        </p:spPr>
      </p:sp>
      <p:sp>
        <p:nvSpPr>
          <p:cNvPr id="52" name="Text 50"/>
          <p:cNvSpPr/>
          <p:nvPr/>
        </p:nvSpPr>
        <p:spPr>
          <a:xfrm>
            <a:off x="9235440" y="3392424"/>
            <a:ext cx="2148840" cy="6126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R1,800,000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182880"/>
            <a:ext cx="9144000" cy="411480"/>
          </a:xfrm>
          <a:prstGeom prst="rect">
            <a:avLst/>
          </a:prstGeom>
          <a:solidFill>
            <a:srgbClr val="1B2A4A"/>
          </a:solidFill>
          <a:ln w="12700">
            <a:solidFill>
              <a:srgbClr val="1B2A4A"/>
            </a:solidFill>
            <a:prstDash val="solid"/>
          </a:ln>
        </p:spPr>
      </p:sp>
      <p:sp>
        <p:nvSpPr>
          <p:cNvPr id="3" name="Text 1"/>
          <p:cNvSpPr/>
          <p:nvPr/>
        </p:nvSpPr>
        <p:spPr>
          <a:xfrm>
            <a:off x="274320" y="237744"/>
            <a:ext cx="8229600" cy="292608"/>
          </a:xfrm>
          <a:prstGeom prst="rect">
            <a:avLst/>
          </a:prstGeom>
          <a:noFill/>
          <a:ln/>
        </p:spPr>
        <p:txBody>
          <a:bodyPr wrap="square" lIns="0" tIns="0" rIns="0" bIns="0"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90-DAY ACTION PLAN — START THIS WEEK</a:t>
            </a:r>
            <a:endParaRPr lang="en-US" sz="1100" dirty="0"/>
          </a:p>
        </p:txBody>
      </p:sp>
      <p:sp>
        <p:nvSpPr>
          <p:cNvPr id="4" name="Text 2"/>
          <p:cNvSpPr/>
          <p:nvPr/>
        </p:nvSpPr>
        <p:spPr>
          <a:xfrm>
            <a:off x="457200" y="777240"/>
            <a:ext cx="10972800" cy="640080"/>
          </a:xfrm>
          <a:prstGeom prst="rect">
            <a:avLst/>
          </a:prstGeom>
          <a:noFill/>
          <a:ln/>
        </p:spPr>
        <p:txBody>
          <a:bodyPr wrap="square" lIns="0" tIns="0" rIns="0" bIns="0" rtlCol="0" anchor="ctr"/>
          <a:lstStyle/>
          <a:p>
            <a:pPr indent="0" marL="0">
              <a:buNone/>
            </a:pPr>
            <a:r>
              <a:rPr lang="en-US" sz="2200" b="1" dirty="0">
                <a:solidFill>
                  <a:srgbClr val="1B2A4A"/>
                </a:solidFill>
                <a:latin typeface="Arial" pitchFamily="34" charset="0"/>
                <a:ea typeface="Arial" pitchFamily="34" charset="-122"/>
                <a:cs typeface="Arial" pitchFamily="34" charset="-120"/>
              </a:rPr>
              <a:t>From zero to first client in 90 days</a:t>
            </a:r>
            <a:endParaRPr lang="en-US" sz="2200" dirty="0"/>
          </a:p>
        </p:txBody>
      </p:sp>
      <p:sp>
        <p:nvSpPr>
          <p:cNvPr id="5" name="Shape 3"/>
          <p:cNvSpPr/>
          <p:nvPr/>
        </p:nvSpPr>
        <p:spPr>
          <a:xfrm>
            <a:off x="457200" y="1508760"/>
            <a:ext cx="8229600" cy="36576"/>
          </a:xfrm>
          <a:prstGeom prst="rect">
            <a:avLst/>
          </a:prstGeom>
          <a:solidFill>
            <a:srgbClr val="D4A017"/>
          </a:solidFill>
          <a:ln w="12700">
            <a:solidFill>
              <a:srgbClr val="D4A017"/>
            </a:solidFill>
            <a:prstDash val="solid"/>
          </a:ln>
        </p:spPr>
      </p:sp>
      <p:sp>
        <p:nvSpPr>
          <p:cNvPr id="6" name="Shape 4"/>
          <p:cNvSpPr/>
          <p:nvPr/>
        </p:nvSpPr>
        <p:spPr>
          <a:xfrm>
            <a:off x="365760" y="1691640"/>
            <a:ext cx="2606040" cy="4663440"/>
          </a:xfrm>
          <a:prstGeom prst="rect">
            <a:avLst>
              <a:gd name="adj" fmla="val 3509"/>
            </a:avLst>
          </a:prstGeom>
          <a:solidFill>
            <a:srgbClr val="E8EDF5"/>
          </a:solidFill>
          <a:ln w="25400">
            <a:solidFill>
              <a:srgbClr val="1A56A0"/>
            </a:solidFill>
            <a:prstDash val="solid"/>
          </a:ln>
        </p:spPr>
      </p:sp>
      <p:sp>
        <p:nvSpPr>
          <p:cNvPr id="7" name="Shape 5"/>
          <p:cNvSpPr/>
          <p:nvPr/>
        </p:nvSpPr>
        <p:spPr>
          <a:xfrm>
            <a:off x="365760" y="1691640"/>
            <a:ext cx="2606040" cy="502920"/>
          </a:xfrm>
          <a:prstGeom prst="rect">
            <a:avLst>
              <a:gd name="adj" fmla="val 10909"/>
            </a:avLst>
          </a:prstGeom>
          <a:solidFill>
            <a:srgbClr val="1A56A0"/>
          </a:solidFill>
          <a:ln w="12700">
            <a:solidFill>
              <a:srgbClr val="1A56A0"/>
            </a:solidFill>
            <a:prstDash val="solid"/>
          </a:ln>
        </p:spPr>
      </p:sp>
      <p:sp>
        <p:nvSpPr>
          <p:cNvPr id="8" name="Text 6"/>
          <p:cNvSpPr/>
          <p:nvPr/>
        </p:nvSpPr>
        <p:spPr>
          <a:xfrm>
            <a:off x="365760" y="169164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WEEK 1-2</a:t>
            </a:r>
            <a:endParaRPr lang="en-US" sz="1100" dirty="0"/>
          </a:p>
        </p:txBody>
      </p:sp>
      <p:sp>
        <p:nvSpPr>
          <p:cNvPr id="9" name="Shape 7"/>
          <p:cNvSpPr/>
          <p:nvPr/>
        </p:nvSpPr>
        <p:spPr>
          <a:xfrm>
            <a:off x="502920" y="2331720"/>
            <a:ext cx="274320" cy="274320"/>
          </a:xfrm>
          <a:prstGeom prst="rect">
            <a:avLst>
              <a:gd name="adj" fmla="val 13333"/>
            </a:avLst>
          </a:prstGeom>
          <a:solidFill>
            <a:srgbClr val="1A56A0"/>
          </a:solidFill>
          <a:ln w="12700">
            <a:solidFill>
              <a:srgbClr val="1A56A0"/>
            </a:solidFill>
            <a:prstDash val="solid"/>
          </a:ln>
        </p:spPr>
      </p:sp>
      <p:sp>
        <p:nvSpPr>
          <p:cNvPr id="10" name="Text 8"/>
          <p:cNvSpPr/>
          <p:nvPr/>
        </p:nvSpPr>
        <p:spPr>
          <a:xfrm>
            <a:off x="868680" y="228600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Choose 1 outcome type</a:t>
            </a:r>
            <a:endParaRPr lang="en-US" sz="1000" dirty="0"/>
          </a:p>
        </p:txBody>
      </p:sp>
      <p:sp>
        <p:nvSpPr>
          <p:cNvPr id="11" name="Shape 9"/>
          <p:cNvSpPr/>
          <p:nvPr/>
        </p:nvSpPr>
        <p:spPr>
          <a:xfrm>
            <a:off x="502920" y="3108960"/>
            <a:ext cx="274320" cy="274320"/>
          </a:xfrm>
          <a:prstGeom prst="rect">
            <a:avLst>
              <a:gd name="adj" fmla="val 13333"/>
            </a:avLst>
          </a:prstGeom>
          <a:solidFill>
            <a:srgbClr val="1A56A0"/>
          </a:solidFill>
          <a:ln w="12700">
            <a:solidFill>
              <a:srgbClr val="1A56A0"/>
            </a:solidFill>
            <a:prstDash val="solid"/>
          </a:ln>
        </p:spPr>
      </p:sp>
      <p:sp>
        <p:nvSpPr>
          <p:cNvPr id="12" name="Text 10"/>
          <p:cNvSpPr/>
          <p:nvPr/>
        </p:nvSpPr>
        <p:spPr>
          <a:xfrm>
            <a:off x="868680" y="306324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Build AI workflow</a:t>
            </a:r>
            <a:endParaRPr lang="en-US" sz="1000" dirty="0"/>
          </a:p>
        </p:txBody>
      </p:sp>
      <p:sp>
        <p:nvSpPr>
          <p:cNvPr id="13" name="Shape 11"/>
          <p:cNvSpPr/>
          <p:nvPr/>
        </p:nvSpPr>
        <p:spPr>
          <a:xfrm>
            <a:off x="502920" y="3886200"/>
            <a:ext cx="274320" cy="274320"/>
          </a:xfrm>
          <a:prstGeom prst="rect">
            <a:avLst>
              <a:gd name="adj" fmla="val 13333"/>
            </a:avLst>
          </a:prstGeom>
          <a:solidFill>
            <a:srgbClr val="1A56A0"/>
          </a:solidFill>
          <a:ln w="12700">
            <a:solidFill>
              <a:srgbClr val="1A56A0"/>
            </a:solidFill>
            <a:prstDash val="solid"/>
          </a:ln>
        </p:spPr>
      </p:sp>
      <p:sp>
        <p:nvSpPr>
          <p:cNvPr id="14" name="Text 12"/>
          <p:cNvSpPr/>
          <p:nvPr/>
        </p:nvSpPr>
        <p:spPr>
          <a:xfrm>
            <a:off x="868680" y="384048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Test on dummy data</a:t>
            </a:r>
            <a:endParaRPr lang="en-US" sz="1000" dirty="0"/>
          </a:p>
        </p:txBody>
      </p:sp>
      <p:sp>
        <p:nvSpPr>
          <p:cNvPr id="15" name="Shape 13"/>
          <p:cNvSpPr/>
          <p:nvPr/>
        </p:nvSpPr>
        <p:spPr>
          <a:xfrm>
            <a:off x="3200400" y="1691640"/>
            <a:ext cx="2606040" cy="4663440"/>
          </a:xfrm>
          <a:prstGeom prst="rect">
            <a:avLst>
              <a:gd name="adj" fmla="val 3509"/>
            </a:avLst>
          </a:prstGeom>
          <a:solidFill>
            <a:srgbClr val="E8EDF5"/>
          </a:solidFill>
          <a:ln w="25400">
            <a:solidFill>
              <a:srgbClr val="2D9B6F"/>
            </a:solidFill>
            <a:prstDash val="solid"/>
          </a:ln>
        </p:spPr>
      </p:sp>
      <p:sp>
        <p:nvSpPr>
          <p:cNvPr id="16" name="Shape 14"/>
          <p:cNvSpPr/>
          <p:nvPr/>
        </p:nvSpPr>
        <p:spPr>
          <a:xfrm>
            <a:off x="3200400" y="1691640"/>
            <a:ext cx="2606040" cy="502920"/>
          </a:xfrm>
          <a:prstGeom prst="rect">
            <a:avLst>
              <a:gd name="adj" fmla="val 10909"/>
            </a:avLst>
          </a:prstGeom>
          <a:solidFill>
            <a:srgbClr val="2D9B6F"/>
          </a:solidFill>
          <a:ln w="12700">
            <a:solidFill>
              <a:srgbClr val="2D9B6F"/>
            </a:solidFill>
            <a:prstDash val="solid"/>
          </a:ln>
        </p:spPr>
      </p:sp>
      <p:sp>
        <p:nvSpPr>
          <p:cNvPr id="17" name="Text 15"/>
          <p:cNvSpPr/>
          <p:nvPr/>
        </p:nvSpPr>
        <p:spPr>
          <a:xfrm>
            <a:off x="3200400" y="169164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WEEK 3-4</a:t>
            </a:r>
            <a:endParaRPr lang="en-US" sz="1100" dirty="0"/>
          </a:p>
        </p:txBody>
      </p:sp>
      <p:sp>
        <p:nvSpPr>
          <p:cNvPr id="18" name="Shape 16"/>
          <p:cNvSpPr/>
          <p:nvPr/>
        </p:nvSpPr>
        <p:spPr>
          <a:xfrm>
            <a:off x="3337560" y="2331720"/>
            <a:ext cx="274320" cy="274320"/>
          </a:xfrm>
          <a:prstGeom prst="rect">
            <a:avLst>
              <a:gd name="adj" fmla="val 13333"/>
            </a:avLst>
          </a:prstGeom>
          <a:solidFill>
            <a:srgbClr val="2D9B6F"/>
          </a:solidFill>
          <a:ln w="12700">
            <a:solidFill>
              <a:srgbClr val="2D9B6F"/>
            </a:solidFill>
            <a:prstDash val="solid"/>
          </a:ln>
        </p:spPr>
      </p:sp>
      <p:sp>
        <p:nvSpPr>
          <p:cNvPr id="19" name="Text 17"/>
          <p:cNvSpPr/>
          <p:nvPr/>
        </p:nvSpPr>
        <p:spPr>
          <a:xfrm>
            <a:off x="3703320" y="228600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Land 2 real clients</a:t>
            </a:r>
            <a:endParaRPr lang="en-US" sz="1000" dirty="0"/>
          </a:p>
        </p:txBody>
      </p:sp>
      <p:sp>
        <p:nvSpPr>
          <p:cNvPr id="20" name="Shape 18"/>
          <p:cNvSpPr/>
          <p:nvPr/>
        </p:nvSpPr>
        <p:spPr>
          <a:xfrm>
            <a:off x="3337560" y="3108960"/>
            <a:ext cx="274320" cy="274320"/>
          </a:xfrm>
          <a:prstGeom prst="rect">
            <a:avLst>
              <a:gd name="adj" fmla="val 13333"/>
            </a:avLst>
          </a:prstGeom>
          <a:solidFill>
            <a:srgbClr val="2D9B6F"/>
          </a:solidFill>
          <a:ln w="12700">
            <a:solidFill>
              <a:srgbClr val="2D9B6F"/>
            </a:solidFill>
            <a:prstDash val="solid"/>
          </a:ln>
        </p:spPr>
      </p:sp>
      <p:sp>
        <p:nvSpPr>
          <p:cNvPr id="21" name="Text 19"/>
          <p:cNvSpPr/>
          <p:nvPr/>
        </p:nvSpPr>
        <p:spPr>
          <a:xfrm>
            <a:off x="3703320" y="306324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Deliver first 50 outcomes</a:t>
            </a:r>
            <a:endParaRPr lang="en-US" sz="1000" dirty="0"/>
          </a:p>
        </p:txBody>
      </p:sp>
      <p:sp>
        <p:nvSpPr>
          <p:cNvPr id="22" name="Shape 20"/>
          <p:cNvSpPr/>
          <p:nvPr/>
        </p:nvSpPr>
        <p:spPr>
          <a:xfrm>
            <a:off x="3337560" y="3886200"/>
            <a:ext cx="274320" cy="274320"/>
          </a:xfrm>
          <a:prstGeom prst="rect">
            <a:avLst>
              <a:gd name="adj" fmla="val 13333"/>
            </a:avLst>
          </a:prstGeom>
          <a:solidFill>
            <a:srgbClr val="2D9B6F"/>
          </a:solidFill>
          <a:ln w="12700">
            <a:solidFill>
              <a:srgbClr val="2D9B6F"/>
            </a:solidFill>
            <a:prstDash val="solid"/>
          </a:ln>
        </p:spPr>
      </p:sp>
      <p:sp>
        <p:nvSpPr>
          <p:cNvPr id="23" name="Text 21"/>
          <p:cNvSpPr/>
          <p:nvPr/>
        </p:nvSpPr>
        <p:spPr>
          <a:xfrm>
            <a:off x="3703320" y="384048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Collect case study data</a:t>
            </a:r>
            <a:endParaRPr lang="en-US" sz="1000" dirty="0"/>
          </a:p>
        </p:txBody>
      </p:sp>
      <p:sp>
        <p:nvSpPr>
          <p:cNvPr id="24" name="Shape 22"/>
          <p:cNvSpPr/>
          <p:nvPr/>
        </p:nvSpPr>
        <p:spPr>
          <a:xfrm>
            <a:off x="6035040" y="1691640"/>
            <a:ext cx="2606040" cy="4663440"/>
          </a:xfrm>
          <a:prstGeom prst="rect">
            <a:avLst>
              <a:gd name="adj" fmla="val 3509"/>
            </a:avLst>
          </a:prstGeom>
          <a:solidFill>
            <a:srgbClr val="E8EDF5"/>
          </a:solidFill>
          <a:ln w="25400">
            <a:solidFill>
              <a:srgbClr val="D4A017"/>
            </a:solidFill>
            <a:prstDash val="solid"/>
          </a:ln>
        </p:spPr>
      </p:sp>
      <p:sp>
        <p:nvSpPr>
          <p:cNvPr id="25" name="Shape 23"/>
          <p:cNvSpPr/>
          <p:nvPr/>
        </p:nvSpPr>
        <p:spPr>
          <a:xfrm>
            <a:off x="6035040" y="1691640"/>
            <a:ext cx="2606040" cy="502920"/>
          </a:xfrm>
          <a:prstGeom prst="rect">
            <a:avLst>
              <a:gd name="adj" fmla="val 10909"/>
            </a:avLst>
          </a:prstGeom>
          <a:solidFill>
            <a:srgbClr val="D4A017"/>
          </a:solidFill>
          <a:ln w="12700">
            <a:solidFill>
              <a:srgbClr val="D4A017"/>
            </a:solidFill>
            <a:prstDash val="solid"/>
          </a:ln>
        </p:spPr>
      </p:sp>
      <p:sp>
        <p:nvSpPr>
          <p:cNvPr id="26" name="Text 24"/>
          <p:cNvSpPr/>
          <p:nvPr/>
        </p:nvSpPr>
        <p:spPr>
          <a:xfrm>
            <a:off x="6035040" y="169164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WEEK 5-8</a:t>
            </a:r>
            <a:endParaRPr lang="en-US" sz="1100" dirty="0"/>
          </a:p>
        </p:txBody>
      </p:sp>
      <p:sp>
        <p:nvSpPr>
          <p:cNvPr id="27" name="Shape 25"/>
          <p:cNvSpPr/>
          <p:nvPr/>
        </p:nvSpPr>
        <p:spPr>
          <a:xfrm>
            <a:off x="6172200" y="2331720"/>
            <a:ext cx="274320" cy="274320"/>
          </a:xfrm>
          <a:prstGeom prst="rect">
            <a:avLst>
              <a:gd name="adj" fmla="val 13333"/>
            </a:avLst>
          </a:prstGeom>
          <a:solidFill>
            <a:srgbClr val="D4A017"/>
          </a:solidFill>
          <a:ln w="12700">
            <a:solidFill>
              <a:srgbClr val="D4A017"/>
            </a:solidFill>
            <a:prstDash val="solid"/>
          </a:ln>
        </p:spPr>
      </p:sp>
      <p:sp>
        <p:nvSpPr>
          <p:cNvPr id="28" name="Text 26"/>
          <p:cNvSpPr/>
          <p:nvPr/>
        </p:nvSpPr>
        <p:spPr>
          <a:xfrm>
            <a:off x="6537960" y="228600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Add 1 VA for QC (R4K/mo)</a:t>
            </a:r>
            <a:endParaRPr lang="en-US" sz="1000" dirty="0"/>
          </a:p>
        </p:txBody>
      </p:sp>
      <p:sp>
        <p:nvSpPr>
          <p:cNvPr id="29" name="Shape 27"/>
          <p:cNvSpPr/>
          <p:nvPr/>
        </p:nvSpPr>
        <p:spPr>
          <a:xfrm>
            <a:off x="6172200" y="3108960"/>
            <a:ext cx="274320" cy="274320"/>
          </a:xfrm>
          <a:prstGeom prst="rect">
            <a:avLst>
              <a:gd name="adj" fmla="val 13333"/>
            </a:avLst>
          </a:prstGeom>
          <a:solidFill>
            <a:srgbClr val="D4A017"/>
          </a:solidFill>
          <a:ln w="12700">
            <a:solidFill>
              <a:srgbClr val="D4A017"/>
            </a:solidFill>
            <a:prstDash val="solid"/>
          </a:ln>
        </p:spPr>
      </p:sp>
      <p:sp>
        <p:nvSpPr>
          <p:cNvPr id="30" name="Text 28"/>
          <p:cNvSpPr/>
          <p:nvPr/>
        </p:nvSpPr>
        <p:spPr>
          <a:xfrm>
            <a:off x="6537960" y="306324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Scale to 200 outcomes</a:t>
            </a:r>
            <a:endParaRPr lang="en-US" sz="1000" dirty="0"/>
          </a:p>
        </p:txBody>
      </p:sp>
      <p:sp>
        <p:nvSpPr>
          <p:cNvPr id="31" name="Shape 29"/>
          <p:cNvSpPr/>
          <p:nvPr/>
        </p:nvSpPr>
        <p:spPr>
          <a:xfrm>
            <a:off x="6172200" y="3886200"/>
            <a:ext cx="274320" cy="274320"/>
          </a:xfrm>
          <a:prstGeom prst="rect">
            <a:avLst>
              <a:gd name="adj" fmla="val 13333"/>
            </a:avLst>
          </a:prstGeom>
          <a:solidFill>
            <a:srgbClr val="D4A017"/>
          </a:solidFill>
          <a:ln w="12700">
            <a:solidFill>
              <a:srgbClr val="D4A017"/>
            </a:solidFill>
            <a:prstDash val="solid"/>
          </a:ln>
        </p:spPr>
      </p:sp>
      <p:sp>
        <p:nvSpPr>
          <p:cNvPr id="32" name="Text 30"/>
          <p:cNvSpPr/>
          <p:nvPr/>
        </p:nvSpPr>
        <p:spPr>
          <a:xfrm>
            <a:off x="6537960" y="384048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R40K revenue</a:t>
            </a:r>
            <a:endParaRPr lang="en-US" sz="1000" dirty="0"/>
          </a:p>
        </p:txBody>
      </p:sp>
      <p:sp>
        <p:nvSpPr>
          <p:cNvPr id="33" name="Shape 31"/>
          <p:cNvSpPr/>
          <p:nvPr/>
        </p:nvSpPr>
        <p:spPr>
          <a:xfrm>
            <a:off x="8869680" y="1691640"/>
            <a:ext cx="2606040" cy="4663440"/>
          </a:xfrm>
          <a:prstGeom prst="rect">
            <a:avLst>
              <a:gd name="adj" fmla="val 3509"/>
            </a:avLst>
          </a:prstGeom>
          <a:solidFill>
            <a:srgbClr val="E8EDF5"/>
          </a:solidFill>
          <a:ln w="25400">
            <a:solidFill>
              <a:srgbClr val="7C3AED"/>
            </a:solidFill>
            <a:prstDash val="solid"/>
          </a:ln>
        </p:spPr>
      </p:sp>
      <p:sp>
        <p:nvSpPr>
          <p:cNvPr id="34" name="Shape 32"/>
          <p:cNvSpPr/>
          <p:nvPr/>
        </p:nvSpPr>
        <p:spPr>
          <a:xfrm>
            <a:off x="8869680" y="1691640"/>
            <a:ext cx="2606040" cy="502920"/>
          </a:xfrm>
          <a:prstGeom prst="rect">
            <a:avLst>
              <a:gd name="adj" fmla="val 10909"/>
            </a:avLst>
          </a:prstGeom>
          <a:solidFill>
            <a:srgbClr val="7C3AED"/>
          </a:solidFill>
          <a:ln w="12700">
            <a:solidFill>
              <a:srgbClr val="7C3AED"/>
            </a:solidFill>
            <a:prstDash val="solid"/>
          </a:ln>
        </p:spPr>
      </p:sp>
      <p:sp>
        <p:nvSpPr>
          <p:cNvPr id="35" name="Text 33"/>
          <p:cNvSpPr/>
          <p:nvPr/>
        </p:nvSpPr>
        <p:spPr>
          <a:xfrm>
            <a:off x="8869680" y="1691640"/>
            <a:ext cx="26060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WEEK 9-12</a:t>
            </a:r>
            <a:endParaRPr lang="en-US" sz="1100" dirty="0"/>
          </a:p>
        </p:txBody>
      </p:sp>
      <p:sp>
        <p:nvSpPr>
          <p:cNvPr id="36" name="Shape 34"/>
          <p:cNvSpPr/>
          <p:nvPr/>
        </p:nvSpPr>
        <p:spPr>
          <a:xfrm>
            <a:off x="9006840" y="2331720"/>
            <a:ext cx="274320" cy="274320"/>
          </a:xfrm>
          <a:prstGeom prst="rect">
            <a:avLst>
              <a:gd name="adj" fmla="val 13333"/>
            </a:avLst>
          </a:prstGeom>
          <a:solidFill>
            <a:srgbClr val="7C3AED"/>
          </a:solidFill>
          <a:ln w="12700">
            <a:solidFill>
              <a:srgbClr val="7C3AED"/>
            </a:solidFill>
            <a:prstDash val="solid"/>
          </a:ln>
        </p:spPr>
      </p:sp>
      <p:sp>
        <p:nvSpPr>
          <p:cNvPr id="37" name="Text 35"/>
          <p:cNvSpPr/>
          <p:nvPr/>
        </p:nvSpPr>
        <p:spPr>
          <a:xfrm>
            <a:off x="9372600" y="228600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Add 2nd outcome type</a:t>
            </a:r>
            <a:endParaRPr lang="en-US" sz="1000" dirty="0"/>
          </a:p>
        </p:txBody>
      </p:sp>
      <p:sp>
        <p:nvSpPr>
          <p:cNvPr id="38" name="Shape 36"/>
          <p:cNvSpPr/>
          <p:nvPr/>
        </p:nvSpPr>
        <p:spPr>
          <a:xfrm>
            <a:off x="9006840" y="3108960"/>
            <a:ext cx="274320" cy="274320"/>
          </a:xfrm>
          <a:prstGeom prst="rect">
            <a:avLst>
              <a:gd name="adj" fmla="val 13333"/>
            </a:avLst>
          </a:prstGeom>
          <a:solidFill>
            <a:srgbClr val="7C3AED"/>
          </a:solidFill>
          <a:ln w="12700">
            <a:solidFill>
              <a:srgbClr val="7C3AED"/>
            </a:solidFill>
            <a:prstDash val="solid"/>
          </a:ln>
        </p:spPr>
      </p:sp>
      <p:sp>
        <p:nvSpPr>
          <p:cNvPr id="39" name="Text 37"/>
          <p:cNvSpPr/>
          <p:nvPr/>
        </p:nvSpPr>
        <p:spPr>
          <a:xfrm>
            <a:off x="9372600" y="306324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Scale to 5 clients</a:t>
            </a:r>
            <a:endParaRPr lang="en-US" sz="1000" dirty="0"/>
          </a:p>
        </p:txBody>
      </p:sp>
      <p:sp>
        <p:nvSpPr>
          <p:cNvPr id="40" name="Shape 38"/>
          <p:cNvSpPr/>
          <p:nvPr/>
        </p:nvSpPr>
        <p:spPr>
          <a:xfrm>
            <a:off x="9006840" y="3886200"/>
            <a:ext cx="274320" cy="274320"/>
          </a:xfrm>
          <a:prstGeom prst="rect">
            <a:avLst>
              <a:gd name="adj" fmla="val 13333"/>
            </a:avLst>
          </a:prstGeom>
          <a:solidFill>
            <a:srgbClr val="7C3AED"/>
          </a:solidFill>
          <a:ln w="12700">
            <a:solidFill>
              <a:srgbClr val="7C3AED"/>
            </a:solidFill>
            <a:prstDash val="solid"/>
          </a:ln>
        </p:spPr>
      </p:sp>
      <p:sp>
        <p:nvSpPr>
          <p:cNvPr id="41" name="Text 39"/>
          <p:cNvSpPr/>
          <p:nvPr/>
        </p:nvSpPr>
        <p:spPr>
          <a:xfrm>
            <a:off x="9372600" y="3840480"/>
            <a:ext cx="2011680" cy="749808"/>
          </a:xfrm>
          <a:prstGeom prst="rect">
            <a:avLst/>
          </a:prstGeom>
          <a:noFill/>
          <a:ln/>
        </p:spPr>
        <p:txBody>
          <a:bodyPr wrap="square" lIns="0" tIns="0" rIns="0" bIns="0" rtlCol="0" anchor="ctr"/>
          <a:lstStyle/>
          <a:p>
            <a:pPr indent="0" marL="0">
              <a:buNone/>
            </a:pPr>
            <a:r>
              <a:rPr lang="en-US" sz="1000" dirty="0">
                <a:solidFill>
                  <a:srgbClr val="1B2A4A"/>
                </a:solidFill>
                <a:latin typeface="Arial" pitchFamily="34" charset="0"/>
                <a:ea typeface="Arial" pitchFamily="34" charset="-122"/>
                <a:cs typeface="Arial" pitchFamily="34" charset="-120"/>
              </a:rPr>
              <a:t>R80K+ MRR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017"/>
          </a:solidFill>
          <a:ln w="12700">
            <a:solidFill>
              <a:srgbClr val="D4A017"/>
            </a:solidFill>
            <a:prstDash val="solid"/>
          </a:ln>
        </p:spPr>
      </p:sp>
      <p:sp>
        <p:nvSpPr>
          <p:cNvPr id="3" name="Text 1"/>
          <p:cNvSpPr/>
          <p:nvPr/>
        </p:nvSpPr>
        <p:spPr>
          <a:xfrm>
            <a:off x="457200" y="548640"/>
            <a:ext cx="10972800" cy="457200"/>
          </a:xfrm>
          <a:prstGeom prst="rect">
            <a:avLst/>
          </a:prstGeom>
          <a:noFill/>
          <a:ln/>
        </p:spPr>
        <p:txBody>
          <a:bodyPr wrap="square" lIns="0" tIns="0" rIns="0" bIns="0" rtlCol="0" anchor="ctr"/>
          <a:lstStyle/>
          <a:p>
            <a:pPr indent="0" marL="0">
              <a:buNone/>
            </a:pPr>
            <a:r>
              <a:rPr lang="en-US" sz="1200" b="1" spc="500" kern="0" dirty="0">
                <a:solidFill>
                  <a:srgbClr val="D4A017"/>
                </a:solidFill>
                <a:latin typeface="Arial" pitchFamily="34" charset="0"/>
                <a:ea typeface="Arial" pitchFamily="34" charset="-122"/>
                <a:cs typeface="Arial" pitchFamily="34" charset="-120"/>
              </a:rPr>
              <a:t>WHY NOW?</a:t>
            </a:r>
            <a:endParaRPr lang="en-US" sz="1200" dirty="0"/>
          </a:p>
        </p:txBody>
      </p:sp>
      <p:sp>
        <p:nvSpPr>
          <p:cNvPr id="4" name="Text 2"/>
          <p:cNvSpPr/>
          <p:nvPr/>
        </p:nvSpPr>
        <p:spPr>
          <a:xfrm>
            <a:off x="457200" y="1188720"/>
            <a:ext cx="10972800" cy="22860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AI API costs dropped 80% since 2022. OpenAI, Gemini, and Claude now cost pennies per task. The gap between what AI costs and what clients pay for outcomes has never been wider. Act now before everyone catches on.</a:t>
            </a:r>
            <a:endParaRPr lang="en-US" sz="2600" dirty="0"/>
          </a:p>
        </p:txBody>
      </p:sp>
      <p:sp>
        <p:nvSpPr>
          <p:cNvPr id="5" name="Shape 3"/>
          <p:cNvSpPr/>
          <p:nvPr/>
        </p:nvSpPr>
        <p:spPr>
          <a:xfrm>
            <a:off x="457200" y="3657600"/>
            <a:ext cx="8229600" cy="36576"/>
          </a:xfrm>
          <a:prstGeom prst="rect">
            <a:avLst/>
          </a:prstGeom>
          <a:solidFill>
            <a:srgbClr val="D4A017"/>
          </a:solidFill>
          <a:ln w="12700">
            <a:solidFill>
              <a:srgbClr val="D4A017"/>
            </a:solidFill>
            <a:prstDash val="solid"/>
          </a:ln>
        </p:spPr>
      </p:sp>
      <p:sp>
        <p:nvSpPr>
          <p:cNvPr id="6" name="Text 4"/>
          <p:cNvSpPr/>
          <p:nvPr/>
        </p:nvSpPr>
        <p:spPr>
          <a:xfrm>
            <a:off x="457200" y="3931920"/>
            <a:ext cx="10972800" cy="640080"/>
          </a:xfrm>
          <a:prstGeom prst="rect">
            <a:avLst/>
          </a:prstGeom>
          <a:noFill/>
          <a:ln/>
        </p:spPr>
        <p:txBody>
          <a:bodyPr wrap="square" lIns="0" tIns="0" rIns="0" bIns="0" rtlCol="0" anchor="ctr"/>
          <a:lstStyle/>
          <a:p>
            <a:pPr indent="0" marL="0">
              <a:buNone/>
            </a:pPr>
            <a:r>
              <a:rPr lang="en-US" sz="2000" b="1" dirty="0">
                <a:solidFill>
                  <a:srgbClr val="D4A017"/>
                </a:solidFill>
                <a:latin typeface="Arial" pitchFamily="34" charset="0"/>
                <a:ea typeface="Arial" pitchFamily="34" charset="-122"/>
                <a:cs typeface="Arial" pitchFamily="34" charset="-120"/>
              </a:rPr>
              <a:t>First outcome-based AI service in SA. First-mover wins. Let's build it.</a:t>
            </a:r>
            <a:endParaRPr lang="en-US" sz="2000" dirty="0"/>
          </a:p>
        </p:txBody>
      </p:sp>
      <p:sp>
        <p:nvSpPr>
          <p:cNvPr id="7" name="Text 5"/>
          <p:cNvSpPr/>
          <p:nvPr/>
        </p:nvSpPr>
        <p:spPr>
          <a:xfrm>
            <a:off x="457200" y="5029200"/>
            <a:ext cx="10972800" cy="365760"/>
          </a:xfrm>
          <a:prstGeom prst="rect">
            <a:avLst/>
          </a:prstGeom>
          <a:noFill/>
          <a:ln/>
        </p:spPr>
        <p:txBody>
          <a:bodyPr wrap="square" lIns="0" tIns="0" rIns="0" bIns="0" rtlCol="0" anchor="ctr"/>
          <a:lstStyle/>
          <a:p>
            <a:pPr indent="0" marL="0">
              <a:buNone/>
            </a:pPr>
            <a:r>
              <a:rPr lang="en-US" sz="1100" dirty="0">
                <a:solidFill>
                  <a:srgbClr val="8090A0"/>
                </a:solidFill>
                <a:latin typeface="Arial" pitchFamily="34" charset="0"/>
                <a:ea typeface="Arial" pitchFamily="34" charset="-122"/>
                <a:cs typeface="Arial" pitchFamily="34" charset="-120"/>
              </a:rPr>
              <a:t>Hermie Ihmig  |  hermie@levinn.co.za  |  +27 XX XXX XXXX  |  levinn.co.za</a:t>
            </a:r>
            <a:endParaRPr lang="en-US" sz="1100" dirty="0"/>
          </a:p>
        </p:txBody>
      </p:sp>
      <p:sp>
        <p:nvSpPr>
          <p:cNvPr id="8" name="Text 6"/>
          <p:cNvSpPr/>
          <p:nvPr/>
        </p:nvSpPr>
        <p:spPr>
          <a:xfrm>
            <a:off x="457200" y="5760720"/>
            <a:ext cx="10972800" cy="457200"/>
          </a:xfrm>
          <a:prstGeom prst="rect">
            <a:avLst/>
          </a:prstGeom>
          <a:noFill/>
          <a:ln/>
        </p:spPr>
        <p:txBody>
          <a:bodyPr wrap="square" lIns="0" tIns="0" rIns="0" bIns="0" rtlCol="0" anchor="ctr"/>
          <a:lstStyle/>
          <a:p>
            <a:pPr indent="0" marL="0">
              <a:buNone/>
            </a:pPr>
            <a:r>
              <a:rPr lang="en-US" sz="1300" i="1" dirty="0">
                <a:solidFill>
                  <a:srgbClr val="AA8833"/>
                </a:solidFill>
                <a:latin typeface="Arial" pitchFamily="34" charset="0"/>
                <a:ea typeface="Arial" pitchFamily="34" charset="-122"/>
                <a:cs typeface="Arial" pitchFamily="34" charset="-120"/>
              </a:rPr>
              <a:t>"The plans of the diligent lead to profit." — Proverbs 21:5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Outcome-Based AI Service</dc:title>
  <dc:subject>PptxGenJS Presentation</dc:subject>
  <dc:creator>Hermie Ihmig | Levinn Group</dc:creator>
  <cp:lastModifiedBy>Hermie Ihmig | Levinn Group</cp:lastModifiedBy>
  <cp:revision>1</cp:revision>
  <dcterms:created xsi:type="dcterms:W3CDTF">2026-04-07T10:43:05Z</dcterms:created>
  <dcterms:modified xsi:type="dcterms:W3CDTF">2026-04-07T10:43:05Z</dcterms:modified>
</cp:coreProperties>
</file>